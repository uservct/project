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ublic Sans Heavy" charset="1" panose="00000000000000000000"/>
      <p:regular r:id="rId19"/>
    </p:embeddedFont>
    <p:embeddedFont>
      <p:font typeface="Open Sauce" charset="1" panose="00000500000000000000"/>
      <p:regular r:id="rId20"/>
    </p:embeddedFont>
    <p:embeddedFont>
      <p:font typeface="Open Sauce Heavy" charset="1" panose="00000A00000000000000"/>
      <p:regular r:id="rId21"/>
    </p:embeddedFont>
    <p:embeddedFont>
      <p:font typeface="Open Sauce Bold" charset="1" panose="00000800000000000000"/>
      <p:regular r:id="rId22"/>
    </p:embeddedFont>
    <p:embeddedFont>
      <p:font typeface="Public Sans Bold" charset="1" panose="00000000000000000000"/>
      <p:regular r:id="rId23"/>
    </p:embeddedFont>
    <p:embeddedFont>
      <p:font typeface="Open Sans Bold" charset="1" panose="020B0806030504020204"/>
      <p:regular r:id="rId24"/>
    </p:embeddedFont>
    <p:embeddedFont>
      <p:font typeface="Public Sans"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14.png" Type="http://schemas.openxmlformats.org/officeDocument/2006/relationships/image"/><Relationship Id="rId15" Target="../media/image15.svg" Type="http://schemas.openxmlformats.org/officeDocument/2006/relationships/image"/><Relationship Id="rId16" Target="../media/image16.png" Type="http://schemas.openxmlformats.org/officeDocument/2006/relationships/image"/><Relationship Id="rId17" Target="../media/image17.svg" Type="http://schemas.openxmlformats.org/officeDocument/2006/relationships/image"/><Relationship Id="rId18" Target="../media/image18.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23.png" Type="http://schemas.openxmlformats.org/officeDocument/2006/relationships/image"/><Relationship Id="rId15" Target="../media/image24.svg" Type="http://schemas.openxmlformats.org/officeDocument/2006/relationships/image"/><Relationship Id="rId16" Target="../media/image25.png" Type="http://schemas.openxmlformats.org/officeDocument/2006/relationships/image"/><Relationship Id="rId17" Target="../media/image26.svg" Type="http://schemas.openxmlformats.org/officeDocument/2006/relationships/image"/><Relationship Id="rId18" Target="../media/image2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6.png" Type="http://schemas.openxmlformats.org/officeDocument/2006/relationships/image"/><Relationship Id="rId13" Target="../media/image17.svg" Type="http://schemas.openxmlformats.org/officeDocument/2006/relationships/image"/><Relationship Id="rId14" Target="../media/image28.png" Type="http://schemas.openxmlformats.org/officeDocument/2006/relationships/image"/><Relationship Id="rId15" Target="../media/image29.svg" Type="http://schemas.openxmlformats.org/officeDocument/2006/relationships/image"/><Relationship Id="rId16" Target="../media/image30.png" Type="http://schemas.openxmlformats.org/officeDocument/2006/relationships/image"/><Relationship Id="rId17" Target="../media/image31.svg" Type="http://schemas.openxmlformats.org/officeDocument/2006/relationships/image"/><Relationship Id="rId18" Target="../media/image32.png" Type="http://schemas.openxmlformats.org/officeDocument/2006/relationships/image"/><Relationship Id="rId19" Target="../media/image33.svg" Type="http://schemas.openxmlformats.org/officeDocument/2006/relationships/image"/><Relationship Id="rId2" Target="../media/image1.png" Type="http://schemas.openxmlformats.org/officeDocument/2006/relationships/image"/><Relationship Id="rId20" Target="../media/image34.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14" Target="../media/image4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png" Type="http://schemas.openxmlformats.org/officeDocument/2006/relationships/image"/><Relationship Id="rId11" Target="../media/image47.svg" Type="http://schemas.openxmlformats.org/officeDocument/2006/relationships/image"/><Relationship Id="rId12" Target="../media/image48.png" Type="http://schemas.openxmlformats.org/officeDocument/2006/relationships/image"/><Relationship Id="rId13" Target="../media/image49.svg" Type="http://schemas.openxmlformats.org/officeDocument/2006/relationships/image"/><Relationship Id="rId14" Target="../media/image50.png" Type="http://schemas.openxmlformats.org/officeDocument/2006/relationships/image"/><Relationship Id="rId15" Target="../media/image51.svg" Type="http://schemas.openxmlformats.org/officeDocument/2006/relationships/image"/><Relationship Id="rId16" Target="../media/image5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44.png" Type="http://schemas.openxmlformats.org/officeDocument/2006/relationships/image"/><Relationship Id="rId9" Target="../media/image4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FF2F8"/>
        </a:solidFill>
      </p:bgPr>
    </p:bg>
    <p:spTree>
      <p:nvGrpSpPr>
        <p:cNvPr id="1" name=""/>
        <p:cNvGrpSpPr/>
        <p:nvPr/>
      </p:nvGrpSpPr>
      <p:grpSpPr>
        <a:xfrm>
          <a:off x="0" y="0"/>
          <a:ext cx="0" cy="0"/>
          <a:chOff x="0" y="0"/>
          <a:chExt cx="0" cy="0"/>
        </a:xfrm>
      </p:grpSpPr>
      <p:sp>
        <p:nvSpPr>
          <p:cNvPr name="TextBox 2" id="2"/>
          <p:cNvSpPr txBox="true"/>
          <p:nvPr/>
        </p:nvSpPr>
        <p:spPr>
          <a:xfrm rot="0">
            <a:off x="1262679" y="2443324"/>
            <a:ext cx="15762643" cy="3675747"/>
          </a:xfrm>
          <a:prstGeom prst="rect">
            <a:avLst/>
          </a:prstGeom>
        </p:spPr>
        <p:txBody>
          <a:bodyPr anchor="t" rtlCol="false" tIns="0" lIns="0" bIns="0" rIns="0">
            <a:spAutoFit/>
          </a:bodyPr>
          <a:lstStyle/>
          <a:p>
            <a:pPr algn="ctr">
              <a:lnSpc>
                <a:spcPts val="14749"/>
              </a:lnSpc>
            </a:pPr>
            <a:r>
              <a:rPr lang="en-US" b="true" sz="10535">
                <a:solidFill>
                  <a:srgbClr val="007D9C"/>
                </a:solidFill>
                <a:latin typeface="Public Sans Heavy"/>
                <a:ea typeface="Public Sans Heavy"/>
                <a:cs typeface="Public Sans Heavy"/>
                <a:sym typeface="Public Sans Heavy"/>
              </a:rPr>
              <a:t>HỆ THỐNG QUẢN LÝ THƯ VIỆN TRƯỜNG</a:t>
            </a:r>
          </a:p>
        </p:txBody>
      </p:sp>
      <p:sp>
        <p:nvSpPr>
          <p:cNvPr name="Freeform 3" id="3"/>
          <p:cNvSpPr/>
          <p:nvPr/>
        </p:nvSpPr>
        <p:spPr>
          <a:xfrm flipH="false" flipV="false" rot="0">
            <a:off x="12767913" y="-2263223"/>
            <a:ext cx="7315200" cy="3657600"/>
          </a:xfrm>
          <a:custGeom>
            <a:avLst/>
            <a:gdLst/>
            <a:ahLst/>
            <a:cxnLst/>
            <a:rect r="r" b="b" t="t" l="l"/>
            <a:pathLst>
              <a:path h="3657600" w="7315200">
                <a:moveTo>
                  <a:pt x="0" y="0"/>
                </a:moveTo>
                <a:lnTo>
                  <a:pt x="7315200" y="0"/>
                </a:lnTo>
                <a:lnTo>
                  <a:pt x="7315200" y="3657600"/>
                </a:lnTo>
                <a:lnTo>
                  <a:pt x="0" y="3657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6618699" y="-1086910"/>
            <a:ext cx="2173821" cy="217382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true" flipV="false" rot="0">
            <a:off x="-1631347" y="6083524"/>
            <a:ext cx="5874518" cy="5874518"/>
          </a:xfrm>
          <a:custGeom>
            <a:avLst/>
            <a:gdLst/>
            <a:ahLst/>
            <a:cxnLst/>
            <a:rect r="r" b="b" t="t" l="l"/>
            <a:pathLst>
              <a:path h="5874518" w="5874518">
                <a:moveTo>
                  <a:pt x="5874518" y="0"/>
                </a:moveTo>
                <a:lnTo>
                  <a:pt x="0" y="0"/>
                </a:lnTo>
                <a:lnTo>
                  <a:pt x="0" y="5874518"/>
                </a:lnTo>
                <a:lnTo>
                  <a:pt x="5874518" y="5874518"/>
                </a:lnTo>
                <a:lnTo>
                  <a:pt x="587451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123584" y="5143500"/>
            <a:ext cx="2598841" cy="259884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5201900" y="78432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856863" y="-1795549"/>
            <a:ext cx="7315200" cy="3591098"/>
          </a:xfrm>
          <a:custGeom>
            <a:avLst/>
            <a:gdLst/>
            <a:ahLst/>
            <a:cxnLst/>
            <a:rect r="r" b="b" t="t" l="l"/>
            <a:pathLst>
              <a:path h="3591098" w="7315200">
                <a:moveTo>
                  <a:pt x="0" y="0"/>
                </a:moveTo>
                <a:lnTo>
                  <a:pt x="7315200" y="0"/>
                </a:lnTo>
                <a:lnTo>
                  <a:pt x="7315200" y="3591098"/>
                </a:lnTo>
                <a:lnTo>
                  <a:pt x="0" y="35910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4263679" y="6461971"/>
            <a:ext cx="9760642" cy="1055594"/>
          </a:xfrm>
          <a:prstGeom prst="rect">
            <a:avLst/>
          </a:prstGeom>
        </p:spPr>
        <p:txBody>
          <a:bodyPr anchor="t" rtlCol="false" tIns="0" lIns="0" bIns="0" rIns="0">
            <a:spAutoFit/>
          </a:bodyPr>
          <a:lstStyle/>
          <a:p>
            <a:pPr algn="ctr">
              <a:lnSpc>
                <a:spcPts val="4182"/>
              </a:lnSpc>
            </a:pPr>
            <a:r>
              <a:rPr lang="en-US" sz="3636">
                <a:solidFill>
                  <a:srgbClr val="007D9C"/>
                </a:solidFill>
                <a:latin typeface="Open Sauce"/>
                <a:ea typeface="Open Sauce"/>
                <a:cs typeface="Open Sauce"/>
                <a:sym typeface="Open Sauce"/>
              </a:rPr>
              <a:t>Phân Tích &amp; Thiết Kế</a:t>
            </a:r>
            <a:r>
              <a:rPr lang="en-US" sz="3636">
                <a:solidFill>
                  <a:srgbClr val="007D9C"/>
                </a:solidFill>
                <a:latin typeface="Open Sauce"/>
                <a:ea typeface="Open Sauce"/>
                <a:cs typeface="Open Sauce"/>
                <a:sym typeface="Open Sauce"/>
              </a:rPr>
              <a:t> Hệ Thống Thông Tin</a:t>
            </a:r>
          </a:p>
          <a:p>
            <a:pPr algn="ctr">
              <a:lnSpc>
                <a:spcPts val="4182"/>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FF2F8"/>
        </a:solidFill>
      </p:bgPr>
    </p:bg>
    <p:spTree>
      <p:nvGrpSpPr>
        <p:cNvPr id="1" name=""/>
        <p:cNvGrpSpPr/>
        <p:nvPr/>
      </p:nvGrpSpPr>
      <p:grpSpPr>
        <a:xfrm>
          <a:off x="0" y="0"/>
          <a:ext cx="0" cy="0"/>
          <a:chOff x="0" y="0"/>
          <a:chExt cx="0" cy="0"/>
        </a:xfrm>
      </p:grpSpPr>
      <p:sp>
        <p:nvSpPr>
          <p:cNvPr name="Freeform 2" id="2"/>
          <p:cNvSpPr/>
          <p:nvPr/>
        </p:nvSpPr>
        <p:spPr>
          <a:xfrm flipH="false" flipV="false" rot="0">
            <a:off x="15443283" y="-800100"/>
            <a:ext cx="5160004" cy="2580002"/>
          </a:xfrm>
          <a:custGeom>
            <a:avLst/>
            <a:gdLst/>
            <a:ahLst/>
            <a:cxnLst/>
            <a:rect r="r" b="b" t="t" l="l"/>
            <a:pathLst>
              <a:path h="2580002" w="5160004">
                <a:moveTo>
                  <a:pt x="0" y="0"/>
                </a:moveTo>
                <a:lnTo>
                  <a:pt x="5160004" y="0"/>
                </a:lnTo>
                <a:lnTo>
                  <a:pt x="5160004" y="2580002"/>
                </a:lnTo>
                <a:lnTo>
                  <a:pt x="0" y="258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52580" y="7144503"/>
            <a:ext cx="4227594" cy="4227594"/>
          </a:xfrm>
          <a:custGeom>
            <a:avLst/>
            <a:gdLst/>
            <a:ahLst/>
            <a:cxnLst/>
            <a:rect r="r" b="b" t="t" l="l"/>
            <a:pathLst>
              <a:path h="4227594" w="4227594">
                <a:moveTo>
                  <a:pt x="4227594" y="0"/>
                </a:moveTo>
                <a:lnTo>
                  <a:pt x="0" y="0"/>
                </a:lnTo>
                <a:lnTo>
                  <a:pt x="0" y="4227594"/>
                </a:lnTo>
                <a:lnTo>
                  <a:pt x="4227594" y="4227594"/>
                </a:lnTo>
                <a:lnTo>
                  <a:pt x="42275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01900" y="78432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7259300" y="6703862"/>
            <a:ext cx="2053173" cy="20531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285545" y="-800100"/>
            <a:ext cx="5816717" cy="2855479"/>
          </a:xfrm>
          <a:custGeom>
            <a:avLst/>
            <a:gdLst/>
            <a:ahLst/>
            <a:cxnLst/>
            <a:rect r="r" b="b" t="t" l="l"/>
            <a:pathLst>
              <a:path h="2855479" w="5816717">
                <a:moveTo>
                  <a:pt x="0" y="0"/>
                </a:moveTo>
                <a:lnTo>
                  <a:pt x="5816717" y="0"/>
                </a:lnTo>
                <a:lnTo>
                  <a:pt x="5816717" y="2855479"/>
                </a:lnTo>
                <a:lnTo>
                  <a:pt x="0" y="28554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638476" y="1080055"/>
            <a:ext cx="1399693" cy="139969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598142" y="2005374"/>
            <a:ext cx="14779218" cy="1392549"/>
          </a:xfrm>
          <a:prstGeom prst="rect">
            <a:avLst/>
          </a:prstGeom>
        </p:spPr>
        <p:txBody>
          <a:bodyPr anchor="t" rtlCol="false" tIns="0" lIns="0" bIns="0" rIns="0">
            <a:spAutoFit/>
          </a:bodyPr>
          <a:lstStyle/>
          <a:p>
            <a:pPr algn="ctr">
              <a:lnSpc>
                <a:spcPts val="10538"/>
              </a:lnSpc>
            </a:pPr>
            <a:r>
              <a:rPr lang="en-US" b="true" sz="10331">
                <a:solidFill>
                  <a:srgbClr val="007D9C"/>
                </a:solidFill>
                <a:latin typeface="Open Sauce Heavy"/>
                <a:ea typeface="Open Sauce Heavy"/>
                <a:cs typeface="Open Sauce Heavy"/>
                <a:sym typeface="Open Sauce Heavy"/>
              </a:rPr>
              <a:t>THÀNH VIÊN NHÓM 6</a:t>
            </a:r>
          </a:p>
        </p:txBody>
      </p:sp>
      <p:grpSp>
        <p:nvGrpSpPr>
          <p:cNvPr name="Group 13" id="13"/>
          <p:cNvGrpSpPr/>
          <p:nvPr/>
        </p:nvGrpSpPr>
        <p:grpSpPr>
          <a:xfrm rot="0">
            <a:off x="4338028" y="3893436"/>
            <a:ext cx="10045778" cy="4135949"/>
            <a:chOff x="0" y="0"/>
            <a:chExt cx="13394370" cy="5514598"/>
          </a:xfrm>
        </p:grpSpPr>
        <p:sp>
          <p:nvSpPr>
            <p:cNvPr name="TextBox 14" id="14"/>
            <p:cNvSpPr txBox="true"/>
            <p:nvPr/>
          </p:nvSpPr>
          <p:spPr>
            <a:xfrm rot="0">
              <a:off x="0" y="19050"/>
              <a:ext cx="1227150" cy="789435"/>
            </a:xfrm>
            <a:prstGeom prst="rect">
              <a:avLst/>
            </a:prstGeom>
          </p:spPr>
          <p:txBody>
            <a:bodyPr anchor="t" rtlCol="false" tIns="0" lIns="0" bIns="0" rIns="0">
              <a:spAutoFit/>
            </a:bodyPr>
            <a:lstStyle/>
            <a:p>
              <a:pPr algn="l">
                <a:lnSpc>
                  <a:spcPts val="4588"/>
                </a:lnSpc>
              </a:pPr>
              <a:r>
                <a:rPr lang="en-US" sz="3990" b="true">
                  <a:solidFill>
                    <a:srgbClr val="007D9C"/>
                  </a:solidFill>
                  <a:latin typeface="Open Sauce Bold"/>
                  <a:ea typeface="Open Sauce Bold"/>
                  <a:cs typeface="Open Sauce Bold"/>
                  <a:sym typeface="Open Sauce Bold"/>
                </a:rPr>
                <a:t>1.</a:t>
              </a:r>
            </a:p>
          </p:txBody>
        </p:sp>
        <p:sp>
          <p:nvSpPr>
            <p:cNvPr name="TextBox 15" id="15"/>
            <p:cNvSpPr txBox="true"/>
            <p:nvPr/>
          </p:nvSpPr>
          <p:spPr>
            <a:xfrm rot="0">
              <a:off x="990116" y="1194739"/>
              <a:ext cx="6746698" cy="798960"/>
            </a:xfrm>
            <a:prstGeom prst="rect">
              <a:avLst/>
            </a:prstGeom>
          </p:spPr>
          <p:txBody>
            <a:bodyPr anchor="t" rtlCol="false" tIns="0" lIns="0" bIns="0" rIns="0">
              <a:spAutoFit/>
            </a:bodyPr>
            <a:lstStyle/>
            <a:p>
              <a:pPr algn="l">
                <a:lnSpc>
                  <a:spcPts val="4588"/>
                </a:lnSpc>
              </a:pPr>
              <a:r>
                <a:rPr lang="en-US" sz="3990" b="true">
                  <a:solidFill>
                    <a:srgbClr val="007D9C"/>
                  </a:solidFill>
                  <a:latin typeface="Public Sans Bold"/>
                  <a:ea typeface="Public Sans Bold"/>
                  <a:cs typeface="Public Sans Bold"/>
                  <a:sym typeface="Public Sans Bold"/>
                </a:rPr>
                <a:t>Nguyễn Bích Ngọc</a:t>
              </a:r>
            </a:p>
          </p:txBody>
        </p:sp>
        <p:sp>
          <p:nvSpPr>
            <p:cNvPr name="TextBox 16" id="16"/>
            <p:cNvSpPr txBox="true"/>
            <p:nvPr/>
          </p:nvSpPr>
          <p:spPr>
            <a:xfrm rot="0">
              <a:off x="990116" y="22682"/>
              <a:ext cx="12404254" cy="798960"/>
            </a:xfrm>
            <a:prstGeom prst="rect">
              <a:avLst/>
            </a:prstGeom>
          </p:spPr>
          <p:txBody>
            <a:bodyPr anchor="t" rtlCol="false" tIns="0" lIns="0" bIns="0" rIns="0">
              <a:spAutoFit/>
            </a:bodyPr>
            <a:lstStyle/>
            <a:p>
              <a:pPr algn="l">
                <a:lnSpc>
                  <a:spcPts val="4588"/>
                </a:lnSpc>
              </a:pPr>
              <a:r>
                <a:rPr lang="en-US" sz="3990" b="true">
                  <a:solidFill>
                    <a:srgbClr val="007D9C"/>
                  </a:solidFill>
                  <a:latin typeface="Public Sans Bold"/>
                  <a:ea typeface="Public Sans Bold"/>
                  <a:cs typeface="Public Sans Bold"/>
                  <a:sym typeface="Public Sans Bold"/>
                </a:rPr>
                <a:t>Đỗ Thị Thuỳ Nga ( Nhóm trưởng)</a:t>
              </a:r>
            </a:p>
          </p:txBody>
        </p:sp>
        <p:sp>
          <p:nvSpPr>
            <p:cNvPr name="TextBox 17" id="17"/>
            <p:cNvSpPr txBox="true"/>
            <p:nvPr/>
          </p:nvSpPr>
          <p:spPr>
            <a:xfrm rot="0">
              <a:off x="0" y="1191107"/>
              <a:ext cx="1227150" cy="789435"/>
            </a:xfrm>
            <a:prstGeom prst="rect">
              <a:avLst/>
            </a:prstGeom>
          </p:spPr>
          <p:txBody>
            <a:bodyPr anchor="t" rtlCol="false" tIns="0" lIns="0" bIns="0" rIns="0">
              <a:spAutoFit/>
            </a:bodyPr>
            <a:lstStyle/>
            <a:p>
              <a:pPr algn="l">
                <a:lnSpc>
                  <a:spcPts val="4588"/>
                </a:lnSpc>
              </a:pPr>
              <a:r>
                <a:rPr lang="en-US" sz="3990" b="true">
                  <a:solidFill>
                    <a:srgbClr val="007D9C"/>
                  </a:solidFill>
                  <a:latin typeface="Open Sauce Bold"/>
                  <a:ea typeface="Open Sauce Bold"/>
                  <a:cs typeface="Open Sauce Bold"/>
                  <a:sym typeface="Open Sauce Bold"/>
                </a:rPr>
                <a:t>2.</a:t>
              </a:r>
            </a:p>
          </p:txBody>
        </p:sp>
        <p:sp>
          <p:nvSpPr>
            <p:cNvPr name="TextBox 18" id="18"/>
            <p:cNvSpPr txBox="true"/>
            <p:nvPr/>
          </p:nvSpPr>
          <p:spPr>
            <a:xfrm rot="0">
              <a:off x="990116" y="2366796"/>
              <a:ext cx="6746698" cy="798960"/>
            </a:xfrm>
            <a:prstGeom prst="rect">
              <a:avLst/>
            </a:prstGeom>
          </p:spPr>
          <p:txBody>
            <a:bodyPr anchor="t" rtlCol="false" tIns="0" lIns="0" bIns="0" rIns="0">
              <a:spAutoFit/>
            </a:bodyPr>
            <a:lstStyle/>
            <a:p>
              <a:pPr algn="l">
                <a:lnSpc>
                  <a:spcPts val="4588"/>
                </a:lnSpc>
              </a:pPr>
              <a:r>
                <a:rPr lang="en-US" sz="3990" b="true">
                  <a:solidFill>
                    <a:srgbClr val="007D9C"/>
                  </a:solidFill>
                  <a:latin typeface="Public Sans Bold"/>
                  <a:ea typeface="Public Sans Bold"/>
                  <a:cs typeface="Public Sans Bold"/>
                  <a:sym typeface="Public Sans Bold"/>
                </a:rPr>
                <a:t>Đoàn Thị Nguyệt</a:t>
              </a:r>
            </a:p>
          </p:txBody>
        </p:sp>
        <p:sp>
          <p:nvSpPr>
            <p:cNvPr name="TextBox 19" id="19"/>
            <p:cNvSpPr txBox="true"/>
            <p:nvPr/>
          </p:nvSpPr>
          <p:spPr>
            <a:xfrm rot="0">
              <a:off x="0" y="2363164"/>
              <a:ext cx="1227150" cy="789435"/>
            </a:xfrm>
            <a:prstGeom prst="rect">
              <a:avLst/>
            </a:prstGeom>
          </p:spPr>
          <p:txBody>
            <a:bodyPr anchor="t" rtlCol="false" tIns="0" lIns="0" bIns="0" rIns="0">
              <a:spAutoFit/>
            </a:bodyPr>
            <a:lstStyle/>
            <a:p>
              <a:pPr algn="l">
                <a:lnSpc>
                  <a:spcPts val="4588"/>
                </a:lnSpc>
              </a:pPr>
              <a:r>
                <a:rPr lang="en-US" sz="3990" b="true">
                  <a:solidFill>
                    <a:srgbClr val="007D9C"/>
                  </a:solidFill>
                  <a:latin typeface="Open Sauce Bold"/>
                  <a:ea typeface="Open Sauce Bold"/>
                  <a:cs typeface="Open Sauce Bold"/>
                  <a:sym typeface="Open Sauce Bold"/>
                </a:rPr>
                <a:t>3.</a:t>
              </a:r>
            </a:p>
          </p:txBody>
        </p:sp>
        <p:sp>
          <p:nvSpPr>
            <p:cNvPr name="TextBox 20" id="20"/>
            <p:cNvSpPr txBox="true"/>
            <p:nvPr/>
          </p:nvSpPr>
          <p:spPr>
            <a:xfrm rot="0">
              <a:off x="990116" y="3538853"/>
              <a:ext cx="6746698" cy="798960"/>
            </a:xfrm>
            <a:prstGeom prst="rect">
              <a:avLst/>
            </a:prstGeom>
          </p:spPr>
          <p:txBody>
            <a:bodyPr anchor="t" rtlCol="false" tIns="0" lIns="0" bIns="0" rIns="0">
              <a:spAutoFit/>
            </a:bodyPr>
            <a:lstStyle/>
            <a:p>
              <a:pPr algn="l">
                <a:lnSpc>
                  <a:spcPts val="4588"/>
                </a:lnSpc>
              </a:pPr>
              <a:r>
                <a:rPr lang="en-US" sz="3990" b="true">
                  <a:solidFill>
                    <a:srgbClr val="007D9C"/>
                  </a:solidFill>
                  <a:latin typeface="Public Sans Bold"/>
                  <a:ea typeface="Public Sans Bold"/>
                  <a:cs typeface="Public Sans Bold"/>
                  <a:sym typeface="Public Sans Bold"/>
                </a:rPr>
                <a:t>Ngô Thị Thuỳ Linh </a:t>
              </a:r>
            </a:p>
          </p:txBody>
        </p:sp>
        <p:sp>
          <p:nvSpPr>
            <p:cNvPr name="TextBox 21" id="21"/>
            <p:cNvSpPr txBox="true"/>
            <p:nvPr/>
          </p:nvSpPr>
          <p:spPr>
            <a:xfrm rot="0">
              <a:off x="0" y="3535221"/>
              <a:ext cx="1227150" cy="789435"/>
            </a:xfrm>
            <a:prstGeom prst="rect">
              <a:avLst/>
            </a:prstGeom>
          </p:spPr>
          <p:txBody>
            <a:bodyPr anchor="t" rtlCol="false" tIns="0" lIns="0" bIns="0" rIns="0">
              <a:spAutoFit/>
            </a:bodyPr>
            <a:lstStyle/>
            <a:p>
              <a:pPr algn="l">
                <a:lnSpc>
                  <a:spcPts val="4588"/>
                </a:lnSpc>
              </a:pPr>
              <a:r>
                <a:rPr lang="en-US" sz="3990" b="true">
                  <a:solidFill>
                    <a:srgbClr val="007D9C"/>
                  </a:solidFill>
                  <a:latin typeface="Open Sauce Bold"/>
                  <a:ea typeface="Open Sauce Bold"/>
                  <a:cs typeface="Open Sauce Bold"/>
                  <a:sym typeface="Open Sauce Bold"/>
                </a:rPr>
                <a:t>4.</a:t>
              </a:r>
            </a:p>
          </p:txBody>
        </p:sp>
        <p:sp>
          <p:nvSpPr>
            <p:cNvPr name="TextBox 22" id="22"/>
            <p:cNvSpPr txBox="true"/>
            <p:nvPr/>
          </p:nvSpPr>
          <p:spPr>
            <a:xfrm rot="0">
              <a:off x="990116" y="4715638"/>
              <a:ext cx="6746698" cy="798960"/>
            </a:xfrm>
            <a:prstGeom prst="rect">
              <a:avLst/>
            </a:prstGeom>
          </p:spPr>
          <p:txBody>
            <a:bodyPr anchor="t" rtlCol="false" tIns="0" lIns="0" bIns="0" rIns="0">
              <a:spAutoFit/>
            </a:bodyPr>
            <a:lstStyle/>
            <a:p>
              <a:pPr algn="l">
                <a:lnSpc>
                  <a:spcPts val="4588"/>
                </a:lnSpc>
              </a:pPr>
              <a:r>
                <a:rPr lang="en-US" sz="3990" b="true">
                  <a:solidFill>
                    <a:srgbClr val="007D9C"/>
                  </a:solidFill>
                  <a:latin typeface="Public Sans Bold"/>
                  <a:ea typeface="Public Sans Bold"/>
                  <a:cs typeface="Public Sans Bold"/>
                  <a:sym typeface="Public Sans Bold"/>
                </a:rPr>
                <a:t>Trần Khánh Linh</a:t>
              </a:r>
            </a:p>
          </p:txBody>
        </p:sp>
        <p:sp>
          <p:nvSpPr>
            <p:cNvPr name="TextBox 23" id="23"/>
            <p:cNvSpPr txBox="true"/>
            <p:nvPr/>
          </p:nvSpPr>
          <p:spPr>
            <a:xfrm rot="0">
              <a:off x="0" y="4712006"/>
              <a:ext cx="1227150" cy="789435"/>
            </a:xfrm>
            <a:prstGeom prst="rect">
              <a:avLst/>
            </a:prstGeom>
          </p:spPr>
          <p:txBody>
            <a:bodyPr anchor="t" rtlCol="false" tIns="0" lIns="0" bIns="0" rIns="0">
              <a:spAutoFit/>
            </a:bodyPr>
            <a:lstStyle/>
            <a:p>
              <a:pPr algn="l">
                <a:lnSpc>
                  <a:spcPts val="4588"/>
                </a:lnSpc>
              </a:pPr>
              <a:r>
                <a:rPr lang="en-US" sz="3990" b="true">
                  <a:solidFill>
                    <a:srgbClr val="007D9C"/>
                  </a:solidFill>
                  <a:latin typeface="Open Sauce Bold"/>
                  <a:ea typeface="Open Sauce Bold"/>
                  <a:cs typeface="Open Sauce Bold"/>
                  <a:sym typeface="Open Sauce Bold"/>
                </a:rPr>
                <a:t>5.</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FF2F8"/>
        </a:solidFill>
      </p:bgPr>
    </p:bg>
    <p:spTree>
      <p:nvGrpSpPr>
        <p:cNvPr id="1" name=""/>
        <p:cNvGrpSpPr/>
        <p:nvPr/>
      </p:nvGrpSpPr>
      <p:grpSpPr>
        <a:xfrm>
          <a:off x="0" y="0"/>
          <a:ext cx="0" cy="0"/>
          <a:chOff x="0" y="0"/>
          <a:chExt cx="0" cy="0"/>
        </a:xfrm>
      </p:grpSpPr>
      <p:sp>
        <p:nvSpPr>
          <p:cNvPr name="Freeform 2" id="2"/>
          <p:cNvSpPr/>
          <p:nvPr/>
        </p:nvSpPr>
        <p:spPr>
          <a:xfrm flipH="false" flipV="false" rot="0">
            <a:off x="15443283" y="-800100"/>
            <a:ext cx="5160004" cy="2580002"/>
          </a:xfrm>
          <a:custGeom>
            <a:avLst/>
            <a:gdLst/>
            <a:ahLst/>
            <a:cxnLst/>
            <a:rect r="r" b="b" t="t" l="l"/>
            <a:pathLst>
              <a:path h="2580002" w="5160004">
                <a:moveTo>
                  <a:pt x="0" y="0"/>
                </a:moveTo>
                <a:lnTo>
                  <a:pt x="5160004" y="0"/>
                </a:lnTo>
                <a:lnTo>
                  <a:pt x="5160004" y="2580002"/>
                </a:lnTo>
                <a:lnTo>
                  <a:pt x="0" y="258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60847" y="7371704"/>
            <a:ext cx="4227594" cy="4227594"/>
          </a:xfrm>
          <a:custGeom>
            <a:avLst/>
            <a:gdLst/>
            <a:ahLst/>
            <a:cxnLst/>
            <a:rect r="r" b="b" t="t" l="l"/>
            <a:pathLst>
              <a:path h="4227594" w="4227594">
                <a:moveTo>
                  <a:pt x="4227594" y="0"/>
                </a:moveTo>
                <a:lnTo>
                  <a:pt x="0" y="0"/>
                </a:lnTo>
                <a:lnTo>
                  <a:pt x="0" y="4227594"/>
                </a:lnTo>
                <a:lnTo>
                  <a:pt x="4227594" y="4227594"/>
                </a:lnTo>
                <a:lnTo>
                  <a:pt x="42275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01900" y="78432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7259300" y="6703862"/>
            <a:ext cx="2053173" cy="20531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285545" y="-800100"/>
            <a:ext cx="5816717" cy="2855479"/>
          </a:xfrm>
          <a:custGeom>
            <a:avLst/>
            <a:gdLst/>
            <a:ahLst/>
            <a:cxnLst/>
            <a:rect r="r" b="b" t="t" l="l"/>
            <a:pathLst>
              <a:path h="2855479" w="5816717">
                <a:moveTo>
                  <a:pt x="0" y="0"/>
                </a:moveTo>
                <a:lnTo>
                  <a:pt x="5816717" y="0"/>
                </a:lnTo>
                <a:lnTo>
                  <a:pt x="5816717" y="2855479"/>
                </a:lnTo>
                <a:lnTo>
                  <a:pt x="0" y="28554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638476" y="1080055"/>
            <a:ext cx="1399693" cy="139969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Table 12" id="12"/>
          <p:cNvGraphicFramePr>
            <a:graphicFrameLocks noGrp="true"/>
          </p:cNvGraphicFramePr>
          <p:nvPr/>
        </p:nvGraphicFramePr>
        <p:xfrm>
          <a:off x="1918790" y="2756235"/>
          <a:ext cx="14450420" cy="4806527"/>
        </p:xfrm>
        <a:graphic>
          <a:graphicData uri="http://schemas.openxmlformats.org/drawingml/2006/table">
            <a:tbl>
              <a:tblPr/>
              <a:tblGrid>
                <a:gridCol w="4488485"/>
                <a:gridCol w="9961935"/>
              </a:tblGrid>
              <a:tr h="1201632">
                <a:tc>
                  <a:txBody>
                    <a:bodyPr anchor="t" rtlCol="false"/>
                    <a:lstStyle/>
                    <a:p>
                      <a:pPr algn="ctr">
                        <a:lnSpc>
                          <a:spcPts val="4200"/>
                        </a:lnSpc>
                        <a:defRPr/>
                      </a:pPr>
                      <a:r>
                        <a:rPr lang="en-US" sz="3000" b="true">
                          <a:solidFill>
                            <a:srgbClr val="007D9C"/>
                          </a:solidFill>
                          <a:latin typeface="Open Sans Bold"/>
                          <a:ea typeface="Open Sans Bold"/>
                          <a:cs typeface="Open Sans Bold"/>
                          <a:sym typeface="Open Sans Bold"/>
                        </a:rPr>
                        <a:t>Đoàn Thị Nguyệt</a:t>
                      </a: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7D9C"/>
                          </a:solidFill>
                          <a:latin typeface="Open Sans Bold"/>
                          <a:ea typeface="Open Sans Bold"/>
                          <a:cs typeface="Open Sans Bold"/>
                          <a:sym typeface="Open Sans Bold"/>
                        </a:rPr>
                        <a:t>Tìm tài liệu</a:t>
                      </a: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r>
              <a:tr h="1201632">
                <a:tc>
                  <a:txBody>
                    <a:bodyPr anchor="t" rtlCol="false"/>
                    <a:lstStyle/>
                    <a:p>
                      <a:pPr algn="ctr">
                        <a:lnSpc>
                          <a:spcPts val="3107"/>
                        </a:lnSpc>
                        <a:defRPr/>
                      </a:pP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c>
                  <a:txBody>
                    <a:bodyPr anchor="t" rtlCol="false"/>
                    <a:lstStyle/>
                    <a:p>
                      <a:pPr algn="ctr">
                        <a:lnSpc>
                          <a:spcPts val="3107"/>
                        </a:lnSpc>
                        <a:defRPr/>
                      </a:pP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r>
              <a:tr h="1201632">
                <a:tc>
                  <a:txBody>
                    <a:bodyPr anchor="t" rtlCol="false"/>
                    <a:lstStyle/>
                    <a:p>
                      <a:pPr algn="ctr">
                        <a:lnSpc>
                          <a:spcPts val="3107"/>
                        </a:lnSpc>
                        <a:defRPr/>
                      </a:pP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c>
                  <a:txBody>
                    <a:bodyPr anchor="t" rtlCol="false"/>
                    <a:lstStyle/>
                    <a:p>
                      <a:pPr algn="ctr">
                        <a:lnSpc>
                          <a:spcPts val="3107"/>
                        </a:lnSpc>
                        <a:defRPr/>
                      </a:pP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r>
              <a:tr h="1201632">
                <a:tc>
                  <a:txBody>
                    <a:bodyPr anchor="t" rtlCol="false"/>
                    <a:lstStyle/>
                    <a:p>
                      <a:pPr algn="ctr">
                        <a:lnSpc>
                          <a:spcPts val="3107"/>
                        </a:lnSpc>
                        <a:defRPr/>
                      </a:pP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c>
                  <a:txBody>
                    <a:bodyPr anchor="t" rtlCol="false"/>
                    <a:lstStyle/>
                    <a:p>
                      <a:pPr algn="ctr">
                        <a:lnSpc>
                          <a:spcPts val="3107"/>
                        </a:lnSpc>
                        <a:defRPr/>
                      </a:pP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r>
            </a:tbl>
          </a:graphicData>
        </a:graphic>
      </p:graphicFrame>
      <p:sp>
        <p:nvSpPr>
          <p:cNvPr name="TextBox 13" id="13"/>
          <p:cNvSpPr txBox="true"/>
          <p:nvPr/>
        </p:nvSpPr>
        <p:spPr>
          <a:xfrm rot="0">
            <a:off x="1694769" y="1194355"/>
            <a:ext cx="14898462" cy="984338"/>
          </a:xfrm>
          <a:prstGeom prst="rect">
            <a:avLst/>
          </a:prstGeom>
        </p:spPr>
        <p:txBody>
          <a:bodyPr anchor="t" rtlCol="false" tIns="0" lIns="0" bIns="0" rIns="0">
            <a:spAutoFit/>
          </a:bodyPr>
          <a:lstStyle/>
          <a:p>
            <a:pPr algn="ctr">
              <a:lnSpc>
                <a:spcPts val="7370"/>
              </a:lnSpc>
            </a:pPr>
            <a:r>
              <a:rPr lang="en-US" b="true" sz="7226">
                <a:solidFill>
                  <a:srgbClr val="007D9C"/>
                </a:solidFill>
                <a:latin typeface="Public Sans Heavy"/>
                <a:ea typeface="Public Sans Heavy"/>
                <a:cs typeface="Public Sans Heavy"/>
                <a:sym typeface="Public Sans Heavy"/>
              </a:rPr>
              <a:t>PHÂN CÔNG CÔNG VIỆC</a:t>
            </a:r>
          </a:p>
        </p:txBody>
      </p:sp>
      <p:graphicFrame>
        <p:nvGraphicFramePr>
          <p:cNvPr name="Table 14" id="14"/>
          <p:cNvGraphicFramePr>
            <a:graphicFrameLocks noGrp="true"/>
          </p:cNvGraphicFramePr>
          <p:nvPr/>
        </p:nvGraphicFramePr>
        <p:xfrm>
          <a:off x="1918790" y="3950507"/>
          <a:ext cx="14450420" cy="4806527"/>
        </p:xfrm>
        <a:graphic>
          <a:graphicData uri="http://schemas.openxmlformats.org/drawingml/2006/table">
            <a:tbl>
              <a:tblPr/>
              <a:tblGrid>
                <a:gridCol w="4488485"/>
                <a:gridCol w="9961935"/>
              </a:tblGrid>
              <a:tr h="1201632">
                <a:tc>
                  <a:txBody>
                    <a:bodyPr anchor="t" rtlCol="false"/>
                    <a:lstStyle/>
                    <a:p>
                      <a:pPr algn="ctr">
                        <a:lnSpc>
                          <a:spcPts val="4200"/>
                        </a:lnSpc>
                        <a:defRPr/>
                      </a:pPr>
                      <a:r>
                        <a:rPr lang="en-US" sz="3000" b="true">
                          <a:solidFill>
                            <a:srgbClr val="007D9C"/>
                          </a:solidFill>
                          <a:latin typeface="Open Sans Bold"/>
                          <a:ea typeface="Open Sans Bold"/>
                          <a:cs typeface="Open Sans Bold"/>
                          <a:sym typeface="Open Sans Bold"/>
                        </a:rPr>
                        <a:t>Trần Khánh Linh</a:t>
                      </a: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7D9C"/>
                          </a:solidFill>
                          <a:latin typeface="Open Sans Bold"/>
                          <a:ea typeface="Open Sans Bold"/>
                          <a:cs typeface="Open Sans Bold"/>
                          <a:sym typeface="Open Sans Bold"/>
                        </a:rPr>
                        <a:t>Tìm tài liệu</a:t>
                      </a: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r>
              <a:tr h="1187410">
                <a:tc>
                  <a:txBody>
                    <a:bodyPr anchor="t" rtlCol="false"/>
                    <a:lstStyle/>
                    <a:p>
                      <a:pPr algn="ctr">
                        <a:lnSpc>
                          <a:spcPts val="4200"/>
                        </a:lnSpc>
                        <a:defRPr/>
                      </a:pPr>
                      <a:r>
                        <a:rPr lang="en-US" sz="3000" b="true">
                          <a:solidFill>
                            <a:srgbClr val="007D9C"/>
                          </a:solidFill>
                          <a:latin typeface="Open Sans Bold"/>
                          <a:ea typeface="Open Sans Bold"/>
                          <a:cs typeface="Open Sans Bold"/>
                          <a:sym typeface="Open Sans Bold"/>
                        </a:rPr>
                        <a:t>Ngô Thị Thùy Linh</a:t>
                      </a: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7D9C"/>
                          </a:solidFill>
                          <a:latin typeface="Open Sans Bold"/>
                          <a:ea typeface="Open Sans Bold"/>
                          <a:cs typeface="Open Sans Bold"/>
                          <a:sym typeface="Open Sans Bold"/>
                        </a:rPr>
                        <a:t>Tổng hợp và làm báo cáo</a:t>
                      </a: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r>
              <a:tr h="1215854">
                <a:tc>
                  <a:txBody>
                    <a:bodyPr anchor="t" rtlCol="false"/>
                    <a:lstStyle/>
                    <a:p>
                      <a:pPr algn="ctr">
                        <a:lnSpc>
                          <a:spcPts val="4200"/>
                        </a:lnSpc>
                        <a:defRPr/>
                      </a:pPr>
                      <a:r>
                        <a:rPr lang="en-US" sz="3000" b="true">
                          <a:solidFill>
                            <a:srgbClr val="007D9C"/>
                          </a:solidFill>
                          <a:latin typeface="Open Sans Bold"/>
                          <a:ea typeface="Open Sans Bold"/>
                          <a:cs typeface="Open Sans Bold"/>
                          <a:sym typeface="Open Sans Bold"/>
                        </a:rPr>
                        <a:t>Nguyễn Bích Ngọc</a:t>
                      </a: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7D9C"/>
                          </a:solidFill>
                          <a:latin typeface="Open Sans Bold"/>
                          <a:ea typeface="Open Sans Bold"/>
                          <a:cs typeface="Open Sans Bold"/>
                          <a:sym typeface="Open Sans Bold"/>
                        </a:rPr>
                        <a:t>PowerPoint</a:t>
                      </a: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r>
              <a:tr h="1201632">
                <a:tc>
                  <a:txBody>
                    <a:bodyPr anchor="t" rtlCol="false"/>
                    <a:lstStyle/>
                    <a:p>
                      <a:pPr algn="ctr">
                        <a:lnSpc>
                          <a:spcPts val="4200"/>
                        </a:lnSpc>
                        <a:defRPr/>
                      </a:pPr>
                      <a:r>
                        <a:rPr lang="en-US" sz="3000" b="true">
                          <a:solidFill>
                            <a:srgbClr val="007D9C"/>
                          </a:solidFill>
                          <a:latin typeface="Open Sans Bold"/>
                          <a:ea typeface="Open Sans Bold"/>
                          <a:cs typeface="Open Sans Bold"/>
                          <a:sym typeface="Open Sans Bold"/>
                        </a:rPr>
                        <a:t>Đỗ Thị Thùy Nga</a:t>
                      </a: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7D9C"/>
                          </a:solidFill>
                          <a:latin typeface="Open Sans Bold"/>
                          <a:ea typeface="Open Sans Bold"/>
                          <a:cs typeface="Open Sans Bold"/>
                          <a:sym typeface="Open Sans Bold"/>
                        </a:rPr>
                        <a:t>Thuyết Trình</a:t>
                      </a:r>
                      <a:endParaRPr lang="en-US" sz="1100"/>
                    </a:p>
                  </a:txBody>
                  <a:tcPr marL="222524" marR="222524" marT="222524" marB="222524" anchor="ctr">
                    <a:lnL cmpd="sng" algn="ctr" cap="flat" w="44505">
                      <a:solidFill>
                        <a:srgbClr val="000000"/>
                      </a:solidFill>
                      <a:prstDash val="solid"/>
                      <a:round/>
                      <a:headEnd type="none" w="med" len="med"/>
                      <a:tailEnd type="none" w="med" len="med"/>
                    </a:lnL>
                    <a:lnR cmpd="sng" algn="ctr" cap="flat" w="44505">
                      <a:solidFill>
                        <a:srgbClr val="000000"/>
                      </a:solidFill>
                      <a:prstDash val="solid"/>
                      <a:round/>
                      <a:headEnd type="none" w="med" len="med"/>
                      <a:tailEnd type="none" w="med" len="med"/>
                    </a:lnR>
                    <a:lnT cmpd="sng" algn="ctr" cap="flat" w="44505">
                      <a:solidFill>
                        <a:srgbClr val="000000"/>
                      </a:solidFill>
                      <a:prstDash val="solid"/>
                      <a:round/>
                      <a:headEnd type="none" w="med" len="med"/>
                      <a:tailEnd type="none" w="med" len="med"/>
                    </a:lnT>
                    <a:lnB cmpd="sng" algn="ctr" cap="flat" w="44505">
                      <a:solidFill>
                        <a:srgbClr val="00000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FF2F8"/>
        </a:solidFill>
      </p:bgPr>
    </p:bg>
    <p:spTree>
      <p:nvGrpSpPr>
        <p:cNvPr id="1" name=""/>
        <p:cNvGrpSpPr/>
        <p:nvPr/>
      </p:nvGrpSpPr>
      <p:grpSpPr>
        <a:xfrm>
          <a:off x="0" y="0"/>
          <a:ext cx="0" cy="0"/>
          <a:chOff x="0" y="0"/>
          <a:chExt cx="0" cy="0"/>
        </a:xfrm>
      </p:grpSpPr>
      <p:sp>
        <p:nvSpPr>
          <p:cNvPr name="Freeform 2" id="2"/>
          <p:cNvSpPr/>
          <p:nvPr/>
        </p:nvSpPr>
        <p:spPr>
          <a:xfrm flipH="false" flipV="false" rot="0">
            <a:off x="15443283" y="-800100"/>
            <a:ext cx="5160004" cy="2580002"/>
          </a:xfrm>
          <a:custGeom>
            <a:avLst/>
            <a:gdLst/>
            <a:ahLst/>
            <a:cxnLst/>
            <a:rect r="r" b="b" t="t" l="l"/>
            <a:pathLst>
              <a:path h="2580002" w="5160004">
                <a:moveTo>
                  <a:pt x="0" y="0"/>
                </a:moveTo>
                <a:lnTo>
                  <a:pt x="5160004" y="0"/>
                </a:lnTo>
                <a:lnTo>
                  <a:pt x="5160004" y="2580002"/>
                </a:lnTo>
                <a:lnTo>
                  <a:pt x="0" y="258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60847" y="7371704"/>
            <a:ext cx="4227594" cy="4227594"/>
          </a:xfrm>
          <a:custGeom>
            <a:avLst/>
            <a:gdLst/>
            <a:ahLst/>
            <a:cxnLst/>
            <a:rect r="r" b="b" t="t" l="l"/>
            <a:pathLst>
              <a:path h="4227594" w="4227594">
                <a:moveTo>
                  <a:pt x="4227594" y="0"/>
                </a:moveTo>
                <a:lnTo>
                  <a:pt x="0" y="0"/>
                </a:lnTo>
                <a:lnTo>
                  <a:pt x="0" y="4227594"/>
                </a:lnTo>
                <a:lnTo>
                  <a:pt x="4227594" y="4227594"/>
                </a:lnTo>
                <a:lnTo>
                  <a:pt x="42275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01900" y="78432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7259300" y="6703862"/>
            <a:ext cx="2053173" cy="20531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285545" y="-800100"/>
            <a:ext cx="5816717" cy="2855479"/>
          </a:xfrm>
          <a:custGeom>
            <a:avLst/>
            <a:gdLst/>
            <a:ahLst/>
            <a:cxnLst/>
            <a:rect r="r" b="b" t="t" l="l"/>
            <a:pathLst>
              <a:path h="2855479" w="5816717">
                <a:moveTo>
                  <a:pt x="0" y="0"/>
                </a:moveTo>
                <a:lnTo>
                  <a:pt x="5816717" y="0"/>
                </a:lnTo>
                <a:lnTo>
                  <a:pt x="5816717" y="2855479"/>
                </a:lnTo>
                <a:lnTo>
                  <a:pt x="0" y="28554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638476" y="1080055"/>
            <a:ext cx="1399693" cy="139969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2875014" y="965755"/>
            <a:ext cx="11873825" cy="918259"/>
          </a:xfrm>
          <a:prstGeom prst="rect">
            <a:avLst/>
          </a:prstGeom>
        </p:spPr>
        <p:txBody>
          <a:bodyPr anchor="t" rtlCol="false" tIns="0" lIns="0" bIns="0" rIns="0">
            <a:spAutoFit/>
          </a:bodyPr>
          <a:lstStyle/>
          <a:p>
            <a:pPr algn="ctr">
              <a:lnSpc>
                <a:spcPts val="7415"/>
              </a:lnSpc>
            </a:pPr>
            <a:r>
              <a:rPr lang="en-US" sz="5296" b="true">
                <a:solidFill>
                  <a:srgbClr val="007D9C"/>
                </a:solidFill>
                <a:latin typeface="Public Sans Bold"/>
                <a:ea typeface="Public Sans Bold"/>
                <a:cs typeface="Public Sans Bold"/>
                <a:sym typeface="Public Sans Bold"/>
              </a:rPr>
              <a:t>BÀI TOÁN</a:t>
            </a:r>
          </a:p>
        </p:txBody>
      </p:sp>
      <p:sp>
        <p:nvSpPr>
          <p:cNvPr name="TextBox 13" id="13"/>
          <p:cNvSpPr txBox="true"/>
          <p:nvPr/>
        </p:nvSpPr>
        <p:spPr>
          <a:xfrm rot="0">
            <a:off x="3312432" y="2731103"/>
            <a:ext cx="11663136" cy="5533646"/>
          </a:xfrm>
          <a:prstGeom prst="rect">
            <a:avLst/>
          </a:prstGeom>
        </p:spPr>
        <p:txBody>
          <a:bodyPr anchor="t" rtlCol="false" tIns="0" lIns="0" bIns="0" rIns="0">
            <a:spAutoFit/>
          </a:bodyPr>
          <a:lstStyle/>
          <a:p>
            <a:pPr algn="just">
              <a:lnSpc>
                <a:spcPts val="5507"/>
              </a:lnSpc>
            </a:pPr>
            <a:r>
              <a:rPr lang="en-US" sz="3399">
                <a:solidFill>
                  <a:srgbClr val="007D9C"/>
                </a:solidFill>
                <a:latin typeface="Public Sans"/>
                <a:ea typeface="Public Sans"/>
                <a:cs typeface="Public Sans"/>
                <a:sym typeface="Public Sans"/>
              </a:rPr>
              <a:t>Thư viện trường Đại học Kiến Trúc Hà Nội có nhu cầu quản lý việc sử dụng sách. Thư viện làm các áp phích sách gồm các thông tin sau: mã sách, tên sách, tên tác giả, nhà xuất bản năm xuất bản, số trang, tóm tắt nội dung, số bản. Sinh viên muốn đăng kí mượn sách thì tra cứu mã sách rồi ghi vào phiếu yêu cầu mượn. Khi mượn, sinh viễn phải sử dụng thẻ sinh viên chứa các thông tin về tên, ngày sinh, địa chỉ, lớp, chuyên ngành của người đọc.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FF2F8"/>
        </a:solidFill>
      </p:bgPr>
    </p:bg>
    <p:spTree>
      <p:nvGrpSpPr>
        <p:cNvPr id="1" name=""/>
        <p:cNvGrpSpPr/>
        <p:nvPr/>
      </p:nvGrpSpPr>
      <p:grpSpPr>
        <a:xfrm>
          <a:off x="0" y="0"/>
          <a:ext cx="0" cy="0"/>
          <a:chOff x="0" y="0"/>
          <a:chExt cx="0" cy="0"/>
        </a:xfrm>
      </p:grpSpPr>
      <p:sp>
        <p:nvSpPr>
          <p:cNvPr name="Freeform 2" id="2"/>
          <p:cNvSpPr/>
          <p:nvPr/>
        </p:nvSpPr>
        <p:spPr>
          <a:xfrm flipH="false" flipV="false" rot="0">
            <a:off x="15443283" y="-800100"/>
            <a:ext cx="5160004" cy="2580002"/>
          </a:xfrm>
          <a:custGeom>
            <a:avLst/>
            <a:gdLst/>
            <a:ahLst/>
            <a:cxnLst/>
            <a:rect r="r" b="b" t="t" l="l"/>
            <a:pathLst>
              <a:path h="2580002" w="5160004">
                <a:moveTo>
                  <a:pt x="0" y="0"/>
                </a:moveTo>
                <a:lnTo>
                  <a:pt x="5160004" y="0"/>
                </a:lnTo>
                <a:lnTo>
                  <a:pt x="5160004" y="2580002"/>
                </a:lnTo>
                <a:lnTo>
                  <a:pt x="0" y="258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60847" y="7371704"/>
            <a:ext cx="4227594" cy="4227594"/>
          </a:xfrm>
          <a:custGeom>
            <a:avLst/>
            <a:gdLst/>
            <a:ahLst/>
            <a:cxnLst/>
            <a:rect r="r" b="b" t="t" l="l"/>
            <a:pathLst>
              <a:path h="4227594" w="4227594">
                <a:moveTo>
                  <a:pt x="4227594" y="0"/>
                </a:moveTo>
                <a:lnTo>
                  <a:pt x="0" y="0"/>
                </a:lnTo>
                <a:lnTo>
                  <a:pt x="0" y="4227594"/>
                </a:lnTo>
                <a:lnTo>
                  <a:pt x="4227594" y="4227594"/>
                </a:lnTo>
                <a:lnTo>
                  <a:pt x="42275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01900" y="78432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7259300" y="6703862"/>
            <a:ext cx="2053173" cy="20531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285545" y="-800100"/>
            <a:ext cx="5816717" cy="2855479"/>
          </a:xfrm>
          <a:custGeom>
            <a:avLst/>
            <a:gdLst/>
            <a:ahLst/>
            <a:cxnLst/>
            <a:rect r="r" b="b" t="t" l="l"/>
            <a:pathLst>
              <a:path h="2855479" w="5816717">
                <a:moveTo>
                  <a:pt x="0" y="0"/>
                </a:moveTo>
                <a:lnTo>
                  <a:pt x="5816717" y="0"/>
                </a:lnTo>
                <a:lnTo>
                  <a:pt x="5816717" y="2855479"/>
                </a:lnTo>
                <a:lnTo>
                  <a:pt x="0" y="28554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638476" y="1080055"/>
            <a:ext cx="1399693" cy="139969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2170751" y="3041235"/>
            <a:ext cx="13946497" cy="4802007"/>
          </a:xfrm>
          <a:custGeom>
            <a:avLst/>
            <a:gdLst/>
            <a:ahLst/>
            <a:cxnLst/>
            <a:rect r="r" b="b" t="t" l="l"/>
            <a:pathLst>
              <a:path h="4802007" w="13946497">
                <a:moveTo>
                  <a:pt x="0" y="0"/>
                </a:moveTo>
                <a:lnTo>
                  <a:pt x="13946498" y="0"/>
                </a:lnTo>
                <a:lnTo>
                  <a:pt x="13946498" y="4802007"/>
                </a:lnTo>
                <a:lnTo>
                  <a:pt x="0" y="4802007"/>
                </a:lnTo>
                <a:lnTo>
                  <a:pt x="0" y="0"/>
                </a:lnTo>
                <a:close/>
              </a:path>
            </a:pathLst>
          </a:custGeom>
          <a:blipFill>
            <a:blip r:embed="rId10"/>
            <a:stretch>
              <a:fillRect l="0" t="0" r="0" b="0"/>
            </a:stretch>
          </a:blipFill>
        </p:spPr>
      </p:sp>
      <p:sp>
        <p:nvSpPr>
          <p:cNvPr name="TextBox 13" id="13"/>
          <p:cNvSpPr txBox="true"/>
          <p:nvPr/>
        </p:nvSpPr>
        <p:spPr>
          <a:xfrm rot="0">
            <a:off x="2653949" y="701023"/>
            <a:ext cx="12980102" cy="918259"/>
          </a:xfrm>
          <a:prstGeom prst="rect">
            <a:avLst/>
          </a:prstGeom>
        </p:spPr>
        <p:txBody>
          <a:bodyPr anchor="t" rtlCol="false" tIns="0" lIns="0" bIns="0" rIns="0">
            <a:spAutoFit/>
          </a:bodyPr>
          <a:lstStyle/>
          <a:p>
            <a:pPr algn="ctr">
              <a:lnSpc>
                <a:spcPts val="7415"/>
              </a:lnSpc>
            </a:pPr>
            <a:r>
              <a:rPr lang="en-US" sz="5296" b="true">
                <a:solidFill>
                  <a:srgbClr val="007D9C"/>
                </a:solidFill>
                <a:latin typeface="Public Sans Bold"/>
                <a:ea typeface="Public Sans Bold"/>
                <a:cs typeface="Public Sans Bold"/>
                <a:sym typeface="Public Sans Bold"/>
              </a:rPr>
              <a:t>Bảng phân tích các yếu tố của bài toán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FF2F8"/>
        </a:solidFill>
      </p:bgPr>
    </p:bg>
    <p:spTree>
      <p:nvGrpSpPr>
        <p:cNvPr id="1" name=""/>
        <p:cNvGrpSpPr/>
        <p:nvPr/>
      </p:nvGrpSpPr>
      <p:grpSpPr>
        <a:xfrm>
          <a:off x="0" y="0"/>
          <a:ext cx="0" cy="0"/>
          <a:chOff x="0" y="0"/>
          <a:chExt cx="0" cy="0"/>
        </a:xfrm>
      </p:grpSpPr>
      <p:sp>
        <p:nvSpPr>
          <p:cNvPr name="Freeform 2" id="2"/>
          <p:cNvSpPr/>
          <p:nvPr/>
        </p:nvSpPr>
        <p:spPr>
          <a:xfrm flipH="true" flipV="false" rot="4595706">
            <a:off x="-2401640" y="-2113797"/>
            <a:ext cx="4227594" cy="4227594"/>
          </a:xfrm>
          <a:custGeom>
            <a:avLst/>
            <a:gdLst/>
            <a:ahLst/>
            <a:cxnLst/>
            <a:rect r="r" b="b" t="t" l="l"/>
            <a:pathLst>
              <a:path h="4227594" w="4227594">
                <a:moveTo>
                  <a:pt x="4227594" y="0"/>
                </a:moveTo>
                <a:lnTo>
                  <a:pt x="0" y="0"/>
                </a:lnTo>
                <a:lnTo>
                  <a:pt x="0" y="4227594"/>
                </a:lnTo>
                <a:lnTo>
                  <a:pt x="4227594" y="4227594"/>
                </a:lnTo>
                <a:lnTo>
                  <a:pt x="4227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01900" y="78432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6996699" y="0"/>
            <a:ext cx="2053173" cy="205317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7B2"/>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5443283" y="-800100"/>
            <a:ext cx="5160004" cy="2580002"/>
          </a:xfrm>
          <a:custGeom>
            <a:avLst/>
            <a:gdLst/>
            <a:ahLst/>
            <a:cxnLst/>
            <a:rect r="r" b="b" t="t" l="l"/>
            <a:pathLst>
              <a:path h="2580002" w="5160004">
                <a:moveTo>
                  <a:pt x="0" y="0"/>
                </a:moveTo>
                <a:lnTo>
                  <a:pt x="5160004" y="0"/>
                </a:lnTo>
                <a:lnTo>
                  <a:pt x="5160004" y="2580002"/>
                </a:lnTo>
                <a:lnTo>
                  <a:pt x="0" y="2580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989109">
            <a:off x="-3388474" y="7830560"/>
            <a:ext cx="5816717" cy="2855479"/>
          </a:xfrm>
          <a:custGeom>
            <a:avLst/>
            <a:gdLst/>
            <a:ahLst/>
            <a:cxnLst/>
            <a:rect r="r" b="b" t="t" l="l"/>
            <a:pathLst>
              <a:path h="2855479" w="5816717">
                <a:moveTo>
                  <a:pt x="0" y="0"/>
                </a:moveTo>
                <a:lnTo>
                  <a:pt x="5816717" y="0"/>
                </a:lnTo>
                <a:lnTo>
                  <a:pt x="5816717" y="2855480"/>
                </a:lnTo>
                <a:lnTo>
                  <a:pt x="0" y="28554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7989109">
            <a:off x="-639280" y="7450435"/>
            <a:ext cx="1399693" cy="139969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60566" y="-1474373"/>
            <a:ext cx="2503073" cy="2503073"/>
          </a:xfrm>
          <a:custGeom>
            <a:avLst/>
            <a:gdLst/>
            <a:ahLst/>
            <a:cxnLst/>
            <a:rect r="r" b="b" t="t" l="l"/>
            <a:pathLst>
              <a:path h="2503073" w="2503073">
                <a:moveTo>
                  <a:pt x="0" y="0"/>
                </a:moveTo>
                <a:lnTo>
                  <a:pt x="2503073" y="0"/>
                </a:lnTo>
                <a:lnTo>
                  <a:pt x="2503073" y="2503073"/>
                </a:lnTo>
                <a:lnTo>
                  <a:pt x="0" y="25030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6984963" y="7200900"/>
            <a:ext cx="4129818" cy="4114800"/>
          </a:xfrm>
          <a:custGeom>
            <a:avLst/>
            <a:gdLst/>
            <a:ahLst/>
            <a:cxnLst/>
            <a:rect r="r" b="b" t="t" l="l"/>
            <a:pathLst>
              <a:path h="4114800" w="4129818">
                <a:moveTo>
                  <a:pt x="0" y="0"/>
                </a:moveTo>
                <a:lnTo>
                  <a:pt x="4129817" y="0"/>
                </a:lnTo>
                <a:lnTo>
                  <a:pt x="4129817"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274414" y="-1604622"/>
            <a:ext cx="3209244" cy="3209244"/>
          </a:xfrm>
          <a:custGeom>
            <a:avLst/>
            <a:gdLst/>
            <a:ahLst/>
            <a:cxnLst/>
            <a:rect r="r" b="b" t="t" l="l"/>
            <a:pathLst>
              <a:path h="3209244" w="3209244">
                <a:moveTo>
                  <a:pt x="0" y="0"/>
                </a:moveTo>
                <a:lnTo>
                  <a:pt x="3209244" y="0"/>
                </a:lnTo>
                <a:lnTo>
                  <a:pt x="3209244" y="3209244"/>
                </a:lnTo>
                <a:lnTo>
                  <a:pt x="0" y="320924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996834" y="-263276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2683652" y="2807513"/>
            <a:ext cx="12920695" cy="5834468"/>
          </a:xfrm>
          <a:custGeom>
            <a:avLst/>
            <a:gdLst/>
            <a:ahLst/>
            <a:cxnLst/>
            <a:rect r="r" b="b" t="t" l="l"/>
            <a:pathLst>
              <a:path h="5834468" w="12920695">
                <a:moveTo>
                  <a:pt x="0" y="0"/>
                </a:moveTo>
                <a:lnTo>
                  <a:pt x="12920696" y="0"/>
                </a:lnTo>
                <a:lnTo>
                  <a:pt x="12920696" y="5834468"/>
                </a:lnTo>
                <a:lnTo>
                  <a:pt x="0" y="5834468"/>
                </a:lnTo>
                <a:lnTo>
                  <a:pt x="0" y="0"/>
                </a:lnTo>
                <a:close/>
              </a:path>
            </a:pathLst>
          </a:custGeom>
          <a:blipFill>
            <a:blip r:embed="rId18"/>
            <a:stretch>
              <a:fillRect l="0" t="0" r="0" b="0"/>
            </a:stretch>
          </a:blipFill>
        </p:spPr>
      </p:sp>
      <p:sp>
        <p:nvSpPr>
          <p:cNvPr name="TextBox 17" id="17"/>
          <p:cNvSpPr txBox="true"/>
          <p:nvPr/>
        </p:nvSpPr>
        <p:spPr>
          <a:xfrm rot="0">
            <a:off x="2531172" y="563776"/>
            <a:ext cx="12101237" cy="918259"/>
          </a:xfrm>
          <a:prstGeom prst="rect">
            <a:avLst/>
          </a:prstGeom>
        </p:spPr>
        <p:txBody>
          <a:bodyPr anchor="t" rtlCol="false" tIns="0" lIns="0" bIns="0" rIns="0">
            <a:spAutoFit/>
          </a:bodyPr>
          <a:lstStyle/>
          <a:p>
            <a:pPr algn="ctr">
              <a:lnSpc>
                <a:spcPts val="7415"/>
              </a:lnSpc>
            </a:pPr>
            <a:r>
              <a:rPr lang="en-US" sz="5296" b="true">
                <a:solidFill>
                  <a:srgbClr val="007D9C"/>
                </a:solidFill>
                <a:latin typeface="Public Sans Bold"/>
                <a:ea typeface="Public Sans Bold"/>
                <a:cs typeface="Public Sans Bold"/>
                <a:sym typeface="Public Sans Bold"/>
              </a:rPr>
              <a:t>Bảng phân tích nhóm các chức năng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FF2F8"/>
        </a:solidFill>
      </p:bgPr>
    </p:bg>
    <p:spTree>
      <p:nvGrpSpPr>
        <p:cNvPr id="1" name=""/>
        <p:cNvGrpSpPr/>
        <p:nvPr/>
      </p:nvGrpSpPr>
      <p:grpSpPr>
        <a:xfrm>
          <a:off x="0" y="0"/>
          <a:ext cx="0" cy="0"/>
          <a:chOff x="0" y="0"/>
          <a:chExt cx="0" cy="0"/>
        </a:xfrm>
      </p:grpSpPr>
      <p:sp>
        <p:nvSpPr>
          <p:cNvPr name="Freeform 2" id="2"/>
          <p:cNvSpPr/>
          <p:nvPr/>
        </p:nvSpPr>
        <p:spPr>
          <a:xfrm flipH="false" flipV="false" rot="0">
            <a:off x="15443283" y="-800100"/>
            <a:ext cx="5160004" cy="2580002"/>
          </a:xfrm>
          <a:custGeom>
            <a:avLst/>
            <a:gdLst/>
            <a:ahLst/>
            <a:cxnLst/>
            <a:rect r="r" b="b" t="t" l="l"/>
            <a:pathLst>
              <a:path h="2580002" w="5160004">
                <a:moveTo>
                  <a:pt x="0" y="0"/>
                </a:moveTo>
                <a:lnTo>
                  <a:pt x="5160004" y="0"/>
                </a:lnTo>
                <a:lnTo>
                  <a:pt x="5160004" y="2580002"/>
                </a:lnTo>
                <a:lnTo>
                  <a:pt x="0" y="258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52580" y="7144503"/>
            <a:ext cx="4227594" cy="4227594"/>
          </a:xfrm>
          <a:custGeom>
            <a:avLst/>
            <a:gdLst/>
            <a:ahLst/>
            <a:cxnLst/>
            <a:rect r="r" b="b" t="t" l="l"/>
            <a:pathLst>
              <a:path h="4227594" w="4227594">
                <a:moveTo>
                  <a:pt x="4227594" y="0"/>
                </a:moveTo>
                <a:lnTo>
                  <a:pt x="0" y="0"/>
                </a:lnTo>
                <a:lnTo>
                  <a:pt x="0" y="4227594"/>
                </a:lnTo>
                <a:lnTo>
                  <a:pt x="4227594" y="4227594"/>
                </a:lnTo>
                <a:lnTo>
                  <a:pt x="42275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01900" y="78432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7259300" y="6703862"/>
            <a:ext cx="2053173" cy="20531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285545" y="-800100"/>
            <a:ext cx="5816717" cy="2855479"/>
          </a:xfrm>
          <a:custGeom>
            <a:avLst/>
            <a:gdLst/>
            <a:ahLst/>
            <a:cxnLst/>
            <a:rect r="r" b="b" t="t" l="l"/>
            <a:pathLst>
              <a:path h="2855479" w="5816717">
                <a:moveTo>
                  <a:pt x="0" y="0"/>
                </a:moveTo>
                <a:lnTo>
                  <a:pt x="5816717" y="0"/>
                </a:lnTo>
                <a:lnTo>
                  <a:pt x="5816717" y="2855479"/>
                </a:lnTo>
                <a:lnTo>
                  <a:pt x="0" y="28554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638476" y="1080055"/>
            <a:ext cx="1399693" cy="139969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5760970" y="-543128"/>
            <a:ext cx="4160184" cy="4114800"/>
          </a:xfrm>
          <a:custGeom>
            <a:avLst/>
            <a:gdLst/>
            <a:ahLst/>
            <a:cxnLst/>
            <a:rect r="r" b="b" t="t" l="l"/>
            <a:pathLst>
              <a:path h="4114800" w="4160184">
                <a:moveTo>
                  <a:pt x="0" y="0"/>
                </a:moveTo>
                <a:lnTo>
                  <a:pt x="4160183" y="0"/>
                </a:lnTo>
                <a:lnTo>
                  <a:pt x="4160183"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7456227">
            <a:off x="-1665514" y="9170832"/>
            <a:ext cx="5388429" cy="4114800"/>
          </a:xfrm>
          <a:custGeom>
            <a:avLst/>
            <a:gdLst/>
            <a:ahLst/>
            <a:cxnLst/>
            <a:rect r="r" b="b" t="t" l="l"/>
            <a:pathLst>
              <a:path h="4114800" w="5388429">
                <a:moveTo>
                  <a:pt x="0" y="0"/>
                </a:moveTo>
                <a:lnTo>
                  <a:pt x="5388428" y="0"/>
                </a:lnTo>
                <a:lnTo>
                  <a:pt x="538842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018029" y="700502"/>
            <a:ext cx="2158800" cy="2158800"/>
          </a:xfrm>
          <a:custGeom>
            <a:avLst/>
            <a:gdLst/>
            <a:ahLst/>
            <a:cxnLst/>
            <a:rect r="r" b="b" t="t" l="l"/>
            <a:pathLst>
              <a:path h="2158800" w="2158800">
                <a:moveTo>
                  <a:pt x="0" y="0"/>
                </a:moveTo>
                <a:lnTo>
                  <a:pt x="2158799" y="0"/>
                </a:lnTo>
                <a:lnTo>
                  <a:pt x="2158799" y="2158800"/>
                </a:lnTo>
                <a:lnTo>
                  <a:pt x="0" y="2158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1906806">
            <a:off x="16945687" y="8770713"/>
            <a:ext cx="7315200" cy="4003409"/>
          </a:xfrm>
          <a:custGeom>
            <a:avLst/>
            <a:gdLst/>
            <a:ahLst/>
            <a:cxnLst/>
            <a:rect r="r" b="b" t="t" l="l"/>
            <a:pathLst>
              <a:path h="4003409" w="7315200">
                <a:moveTo>
                  <a:pt x="0" y="0"/>
                </a:moveTo>
                <a:lnTo>
                  <a:pt x="7315200" y="0"/>
                </a:lnTo>
                <a:lnTo>
                  <a:pt x="7315200" y="4003410"/>
                </a:lnTo>
                <a:lnTo>
                  <a:pt x="0" y="400341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3093776" y="2479748"/>
            <a:ext cx="12108124" cy="6639061"/>
          </a:xfrm>
          <a:custGeom>
            <a:avLst/>
            <a:gdLst/>
            <a:ahLst/>
            <a:cxnLst/>
            <a:rect r="r" b="b" t="t" l="l"/>
            <a:pathLst>
              <a:path h="6639061" w="12108124">
                <a:moveTo>
                  <a:pt x="0" y="0"/>
                </a:moveTo>
                <a:lnTo>
                  <a:pt x="12108124" y="0"/>
                </a:lnTo>
                <a:lnTo>
                  <a:pt x="12108124" y="6639062"/>
                </a:lnTo>
                <a:lnTo>
                  <a:pt x="0" y="6639062"/>
                </a:lnTo>
                <a:lnTo>
                  <a:pt x="0" y="0"/>
                </a:lnTo>
                <a:close/>
              </a:path>
            </a:pathLst>
          </a:custGeom>
          <a:blipFill>
            <a:blip r:embed="rId18"/>
            <a:stretch>
              <a:fillRect l="0" t="0" r="0" b="0"/>
            </a:stretch>
          </a:blipFill>
        </p:spPr>
      </p:sp>
      <p:sp>
        <p:nvSpPr>
          <p:cNvPr name="TextBox 17" id="17"/>
          <p:cNvSpPr txBox="true"/>
          <p:nvPr/>
        </p:nvSpPr>
        <p:spPr>
          <a:xfrm rot="0">
            <a:off x="3328075" y="563776"/>
            <a:ext cx="9927903" cy="918259"/>
          </a:xfrm>
          <a:prstGeom prst="rect">
            <a:avLst/>
          </a:prstGeom>
        </p:spPr>
        <p:txBody>
          <a:bodyPr anchor="t" rtlCol="false" tIns="0" lIns="0" bIns="0" rIns="0">
            <a:spAutoFit/>
          </a:bodyPr>
          <a:lstStyle/>
          <a:p>
            <a:pPr algn="ctr">
              <a:lnSpc>
                <a:spcPts val="7415"/>
              </a:lnSpc>
            </a:pPr>
            <a:r>
              <a:rPr lang="en-US" sz="5296" b="true">
                <a:solidFill>
                  <a:srgbClr val="007D9C"/>
                </a:solidFill>
                <a:latin typeface="Public Sans Bold"/>
                <a:ea typeface="Public Sans Bold"/>
                <a:cs typeface="Public Sans Bold"/>
                <a:sym typeface="Public Sans Bold"/>
              </a:rPr>
              <a:t>Biểu đồ phân cấp chức năng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FF2F8"/>
        </a:solidFill>
      </p:bgPr>
    </p:bg>
    <p:spTree>
      <p:nvGrpSpPr>
        <p:cNvPr id="1" name=""/>
        <p:cNvGrpSpPr/>
        <p:nvPr/>
      </p:nvGrpSpPr>
      <p:grpSpPr>
        <a:xfrm>
          <a:off x="0" y="0"/>
          <a:ext cx="0" cy="0"/>
          <a:chOff x="0" y="0"/>
          <a:chExt cx="0" cy="0"/>
        </a:xfrm>
      </p:grpSpPr>
      <p:sp>
        <p:nvSpPr>
          <p:cNvPr name="Freeform 2" id="2"/>
          <p:cNvSpPr/>
          <p:nvPr/>
        </p:nvSpPr>
        <p:spPr>
          <a:xfrm flipH="false" flipV="false" rot="0">
            <a:off x="15443283" y="-800100"/>
            <a:ext cx="5160004" cy="2580002"/>
          </a:xfrm>
          <a:custGeom>
            <a:avLst/>
            <a:gdLst/>
            <a:ahLst/>
            <a:cxnLst/>
            <a:rect r="r" b="b" t="t" l="l"/>
            <a:pathLst>
              <a:path h="2580002" w="5160004">
                <a:moveTo>
                  <a:pt x="0" y="0"/>
                </a:moveTo>
                <a:lnTo>
                  <a:pt x="5160004" y="0"/>
                </a:lnTo>
                <a:lnTo>
                  <a:pt x="5160004" y="2580002"/>
                </a:lnTo>
                <a:lnTo>
                  <a:pt x="0" y="258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52580" y="7144503"/>
            <a:ext cx="4227594" cy="4227594"/>
          </a:xfrm>
          <a:custGeom>
            <a:avLst/>
            <a:gdLst/>
            <a:ahLst/>
            <a:cxnLst/>
            <a:rect r="r" b="b" t="t" l="l"/>
            <a:pathLst>
              <a:path h="4227594" w="4227594">
                <a:moveTo>
                  <a:pt x="4227594" y="0"/>
                </a:moveTo>
                <a:lnTo>
                  <a:pt x="0" y="0"/>
                </a:lnTo>
                <a:lnTo>
                  <a:pt x="0" y="4227594"/>
                </a:lnTo>
                <a:lnTo>
                  <a:pt x="4227594" y="4227594"/>
                </a:lnTo>
                <a:lnTo>
                  <a:pt x="42275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07154" y="839603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285545" y="-800100"/>
            <a:ext cx="5816717" cy="2855479"/>
          </a:xfrm>
          <a:custGeom>
            <a:avLst/>
            <a:gdLst/>
            <a:ahLst/>
            <a:cxnLst/>
            <a:rect r="r" b="b" t="t" l="l"/>
            <a:pathLst>
              <a:path h="2855479" w="5816717">
                <a:moveTo>
                  <a:pt x="0" y="0"/>
                </a:moveTo>
                <a:lnTo>
                  <a:pt x="5816717" y="0"/>
                </a:lnTo>
                <a:lnTo>
                  <a:pt x="5816717" y="2855479"/>
                </a:lnTo>
                <a:lnTo>
                  <a:pt x="0" y="28554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638476" y="1080055"/>
            <a:ext cx="1399693" cy="139969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7036464" y="7144503"/>
            <a:ext cx="2503073" cy="2503073"/>
          </a:xfrm>
          <a:custGeom>
            <a:avLst/>
            <a:gdLst/>
            <a:ahLst/>
            <a:cxnLst/>
            <a:rect r="r" b="b" t="t" l="l"/>
            <a:pathLst>
              <a:path h="2503073" w="2503073">
                <a:moveTo>
                  <a:pt x="0" y="0"/>
                </a:moveTo>
                <a:lnTo>
                  <a:pt x="2503072" y="0"/>
                </a:lnTo>
                <a:lnTo>
                  <a:pt x="2503072" y="2503073"/>
                </a:lnTo>
                <a:lnTo>
                  <a:pt x="0" y="25030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7345806" y="-196399"/>
            <a:ext cx="2676147" cy="2676147"/>
          </a:xfrm>
          <a:custGeom>
            <a:avLst/>
            <a:gdLst/>
            <a:ahLst/>
            <a:cxnLst/>
            <a:rect r="r" b="b" t="t" l="l"/>
            <a:pathLst>
              <a:path h="2676147" w="2676147">
                <a:moveTo>
                  <a:pt x="0" y="0"/>
                </a:moveTo>
                <a:lnTo>
                  <a:pt x="2676148" y="0"/>
                </a:lnTo>
                <a:lnTo>
                  <a:pt x="2676148" y="2676147"/>
                </a:lnTo>
                <a:lnTo>
                  <a:pt x="0" y="26761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2355232">
            <a:off x="15532995" y="-2001705"/>
            <a:ext cx="7315200" cy="4003409"/>
          </a:xfrm>
          <a:custGeom>
            <a:avLst/>
            <a:gdLst/>
            <a:ahLst/>
            <a:cxnLst/>
            <a:rect r="r" b="b" t="t" l="l"/>
            <a:pathLst>
              <a:path h="4003409" w="7315200">
                <a:moveTo>
                  <a:pt x="0" y="0"/>
                </a:moveTo>
                <a:lnTo>
                  <a:pt x="7315200" y="0"/>
                </a:lnTo>
                <a:lnTo>
                  <a:pt x="7315200" y="4003410"/>
                </a:lnTo>
                <a:lnTo>
                  <a:pt x="0" y="400341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61370" y="890214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6">
              <a:alphaModFix amt="37000"/>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61370" y="-3177620"/>
            <a:ext cx="4129818" cy="4114800"/>
          </a:xfrm>
          <a:custGeom>
            <a:avLst/>
            <a:gdLst/>
            <a:ahLst/>
            <a:cxnLst/>
            <a:rect r="r" b="b" t="t" l="l"/>
            <a:pathLst>
              <a:path h="4114800" w="4129818">
                <a:moveTo>
                  <a:pt x="0" y="0"/>
                </a:moveTo>
                <a:lnTo>
                  <a:pt x="4129818" y="0"/>
                </a:lnTo>
                <a:lnTo>
                  <a:pt x="4129818"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4" id="14"/>
          <p:cNvSpPr/>
          <p:nvPr/>
        </p:nvSpPr>
        <p:spPr>
          <a:xfrm flipH="false" flipV="false" rot="0">
            <a:off x="1799008" y="2956137"/>
            <a:ext cx="15237455" cy="5701965"/>
          </a:xfrm>
          <a:custGeom>
            <a:avLst/>
            <a:gdLst/>
            <a:ahLst/>
            <a:cxnLst/>
            <a:rect r="r" b="b" t="t" l="l"/>
            <a:pathLst>
              <a:path h="5701965" w="15237455">
                <a:moveTo>
                  <a:pt x="0" y="0"/>
                </a:moveTo>
                <a:lnTo>
                  <a:pt x="15237456" y="0"/>
                </a:lnTo>
                <a:lnTo>
                  <a:pt x="15237456" y="5701966"/>
                </a:lnTo>
                <a:lnTo>
                  <a:pt x="0" y="5701966"/>
                </a:lnTo>
                <a:lnTo>
                  <a:pt x="0" y="0"/>
                </a:lnTo>
                <a:close/>
              </a:path>
            </a:pathLst>
          </a:custGeom>
          <a:blipFill>
            <a:blip r:embed="rId20"/>
            <a:stretch>
              <a:fillRect l="0" t="0" r="0" b="0"/>
            </a:stretch>
          </a:blipFill>
        </p:spPr>
      </p:sp>
      <p:sp>
        <p:nvSpPr>
          <p:cNvPr name="TextBox 15" id="15"/>
          <p:cNvSpPr txBox="true"/>
          <p:nvPr/>
        </p:nvSpPr>
        <p:spPr>
          <a:xfrm rot="0">
            <a:off x="2875014" y="965755"/>
            <a:ext cx="11873825" cy="918259"/>
          </a:xfrm>
          <a:prstGeom prst="rect">
            <a:avLst/>
          </a:prstGeom>
        </p:spPr>
        <p:txBody>
          <a:bodyPr anchor="t" rtlCol="false" tIns="0" lIns="0" bIns="0" rIns="0">
            <a:spAutoFit/>
          </a:bodyPr>
          <a:lstStyle/>
          <a:p>
            <a:pPr algn="ctr">
              <a:lnSpc>
                <a:spcPts val="7415"/>
              </a:lnSpc>
            </a:pPr>
            <a:r>
              <a:rPr lang="en-US" sz="5296" b="true">
                <a:solidFill>
                  <a:srgbClr val="007D9C"/>
                </a:solidFill>
                <a:latin typeface="Public Sans Bold"/>
                <a:ea typeface="Public Sans Bold"/>
                <a:cs typeface="Public Sans Bold"/>
                <a:sym typeface="Public Sans Bold"/>
              </a:rPr>
              <a:t>Biểu đồ luồng dữ liệu mức ngữ cảnh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FF2F8"/>
        </a:solidFill>
      </p:bgPr>
    </p:bg>
    <p:spTree>
      <p:nvGrpSpPr>
        <p:cNvPr id="1" name=""/>
        <p:cNvGrpSpPr/>
        <p:nvPr/>
      </p:nvGrpSpPr>
      <p:grpSpPr>
        <a:xfrm>
          <a:off x="0" y="0"/>
          <a:ext cx="0" cy="0"/>
          <a:chOff x="0" y="0"/>
          <a:chExt cx="0" cy="0"/>
        </a:xfrm>
      </p:grpSpPr>
      <p:sp>
        <p:nvSpPr>
          <p:cNvPr name="Freeform 2" id="2"/>
          <p:cNvSpPr/>
          <p:nvPr/>
        </p:nvSpPr>
        <p:spPr>
          <a:xfrm flipH="false" flipV="false" rot="0">
            <a:off x="15443283" y="-800100"/>
            <a:ext cx="5160004" cy="2580002"/>
          </a:xfrm>
          <a:custGeom>
            <a:avLst/>
            <a:gdLst/>
            <a:ahLst/>
            <a:cxnLst/>
            <a:rect r="r" b="b" t="t" l="l"/>
            <a:pathLst>
              <a:path h="2580002" w="5160004">
                <a:moveTo>
                  <a:pt x="0" y="0"/>
                </a:moveTo>
                <a:lnTo>
                  <a:pt x="5160004" y="0"/>
                </a:lnTo>
                <a:lnTo>
                  <a:pt x="5160004" y="2580002"/>
                </a:lnTo>
                <a:lnTo>
                  <a:pt x="0" y="258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01900" y="78432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7259300" y="6703862"/>
            <a:ext cx="2053173" cy="205317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3285545" y="-800100"/>
            <a:ext cx="5816717" cy="2855479"/>
          </a:xfrm>
          <a:custGeom>
            <a:avLst/>
            <a:gdLst/>
            <a:ahLst/>
            <a:cxnLst/>
            <a:rect r="r" b="b" t="t" l="l"/>
            <a:pathLst>
              <a:path h="2855479" w="5816717">
                <a:moveTo>
                  <a:pt x="0" y="0"/>
                </a:moveTo>
                <a:lnTo>
                  <a:pt x="5816717" y="0"/>
                </a:lnTo>
                <a:lnTo>
                  <a:pt x="5816717" y="2855479"/>
                </a:lnTo>
                <a:lnTo>
                  <a:pt x="0" y="28554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8" id="8"/>
          <p:cNvSpPr/>
          <p:nvPr/>
        </p:nvSpPr>
        <p:spPr>
          <a:xfrm>
            <a:off x="7589447" y="8788478"/>
            <a:ext cx="1125307" cy="0"/>
          </a:xfrm>
          <a:prstGeom prst="line">
            <a:avLst/>
          </a:prstGeom>
          <a:ln cap="flat" w="28575">
            <a:solidFill>
              <a:srgbClr val="000000"/>
            </a:solidFill>
            <a:prstDash val="solid"/>
            <a:headEnd type="none" len="sm" w="sm"/>
            <a:tailEnd type="none" len="sm" w="sm"/>
          </a:ln>
        </p:spPr>
      </p:sp>
      <p:sp>
        <p:nvSpPr>
          <p:cNvPr name="AutoShape 9" id="9"/>
          <p:cNvSpPr/>
          <p:nvPr/>
        </p:nvSpPr>
        <p:spPr>
          <a:xfrm>
            <a:off x="7589447" y="9584484"/>
            <a:ext cx="1125307" cy="0"/>
          </a:xfrm>
          <a:prstGeom prst="line">
            <a:avLst/>
          </a:prstGeom>
          <a:ln cap="flat" w="28575">
            <a:solidFill>
              <a:srgbClr val="000000"/>
            </a:solidFill>
            <a:prstDash val="solid"/>
            <a:headEnd type="none" len="sm" w="sm"/>
            <a:tailEnd type="none" len="sm" w="sm"/>
          </a:ln>
        </p:spPr>
      </p:sp>
      <p:sp>
        <p:nvSpPr>
          <p:cNvPr name="AutoShape 10" id="10"/>
          <p:cNvSpPr/>
          <p:nvPr/>
        </p:nvSpPr>
        <p:spPr>
          <a:xfrm>
            <a:off x="8700563" y="8788478"/>
            <a:ext cx="0" cy="802114"/>
          </a:xfrm>
          <a:prstGeom prst="line">
            <a:avLst/>
          </a:prstGeom>
          <a:ln cap="flat" w="28575">
            <a:solidFill>
              <a:srgbClr val="000000"/>
            </a:solidFill>
            <a:prstDash val="solid"/>
            <a:headEnd type="none" len="sm" w="sm"/>
            <a:tailEnd type="none" len="sm" w="sm"/>
          </a:ln>
        </p:spPr>
      </p:sp>
      <p:grpSp>
        <p:nvGrpSpPr>
          <p:cNvPr name="Group 11" id="11"/>
          <p:cNvGrpSpPr/>
          <p:nvPr/>
        </p:nvGrpSpPr>
        <p:grpSpPr>
          <a:xfrm rot="0">
            <a:off x="12186630" y="8760000"/>
            <a:ext cx="1125404" cy="824581"/>
            <a:chOff x="0" y="0"/>
            <a:chExt cx="1500538" cy="1099442"/>
          </a:xfrm>
        </p:grpSpPr>
        <p:sp>
          <p:nvSpPr>
            <p:cNvPr name="AutoShape 12" id="12"/>
            <p:cNvSpPr/>
            <p:nvPr/>
          </p:nvSpPr>
          <p:spPr>
            <a:xfrm>
              <a:off x="0" y="19050"/>
              <a:ext cx="1500409" cy="0"/>
            </a:xfrm>
            <a:prstGeom prst="line">
              <a:avLst/>
            </a:prstGeom>
            <a:ln cap="flat" w="38100">
              <a:solidFill>
                <a:srgbClr val="000000"/>
              </a:solidFill>
              <a:prstDash val="solid"/>
              <a:headEnd type="none" len="sm" w="sm"/>
              <a:tailEnd type="none" len="sm" w="sm"/>
            </a:ln>
          </p:spPr>
        </p:sp>
        <p:sp>
          <p:nvSpPr>
            <p:cNvPr name="AutoShape 13" id="13"/>
            <p:cNvSpPr/>
            <p:nvPr/>
          </p:nvSpPr>
          <p:spPr>
            <a:xfrm>
              <a:off x="0" y="1080392"/>
              <a:ext cx="1500409" cy="0"/>
            </a:xfrm>
            <a:prstGeom prst="line">
              <a:avLst/>
            </a:prstGeom>
            <a:ln cap="flat" w="38100">
              <a:solidFill>
                <a:srgbClr val="000000"/>
              </a:solidFill>
              <a:prstDash val="solid"/>
              <a:headEnd type="none" len="sm" w="sm"/>
              <a:tailEnd type="none" len="sm" w="sm"/>
            </a:ln>
          </p:spPr>
        </p:sp>
        <p:sp>
          <p:nvSpPr>
            <p:cNvPr name="AutoShape 14" id="14"/>
            <p:cNvSpPr/>
            <p:nvPr/>
          </p:nvSpPr>
          <p:spPr>
            <a:xfrm>
              <a:off x="1481488" y="19050"/>
              <a:ext cx="0" cy="1069485"/>
            </a:xfrm>
            <a:prstGeom prst="line">
              <a:avLst/>
            </a:prstGeom>
            <a:ln cap="flat" w="38100">
              <a:solidFill>
                <a:srgbClr val="000000"/>
              </a:solidFill>
              <a:prstDash val="solid"/>
              <a:headEnd type="none" len="sm" w="sm"/>
              <a:tailEnd type="none" len="sm" w="sm"/>
            </a:ln>
          </p:spPr>
        </p:sp>
      </p:grpSp>
      <p:sp>
        <p:nvSpPr>
          <p:cNvPr name="Freeform 15" id="15"/>
          <p:cNvSpPr/>
          <p:nvPr/>
        </p:nvSpPr>
        <p:spPr>
          <a:xfrm flipH="false" flipV="false" rot="0">
            <a:off x="-1947400" y="8052868"/>
            <a:ext cx="4017541" cy="4114800"/>
          </a:xfrm>
          <a:custGeom>
            <a:avLst/>
            <a:gdLst/>
            <a:ahLst/>
            <a:cxnLst/>
            <a:rect r="r" b="b" t="t" l="l"/>
            <a:pathLst>
              <a:path h="4114800" w="4017541">
                <a:moveTo>
                  <a:pt x="0" y="0"/>
                </a:moveTo>
                <a:lnTo>
                  <a:pt x="4017541" y="0"/>
                </a:lnTo>
                <a:lnTo>
                  <a:pt x="401754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2057400" y="-24265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2391159" y="0"/>
            <a:ext cx="4027944" cy="4114800"/>
          </a:xfrm>
          <a:custGeom>
            <a:avLst/>
            <a:gdLst/>
            <a:ahLst/>
            <a:cxnLst/>
            <a:rect r="r" b="b" t="t" l="l"/>
            <a:pathLst>
              <a:path h="4114800" w="4027944">
                <a:moveTo>
                  <a:pt x="0" y="0"/>
                </a:moveTo>
                <a:lnTo>
                  <a:pt x="4027944" y="0"/>
                </a:lnTo>
                <a:lnTo>
                  <a:pt x="4027944"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false" flipV="false" rot="0">
            <a:off x="3762757" y="2361711"/>
            <a:ext cx="10762486" cy="7228880"/>
          </a:xfrm>
          <a:custGeom>
            <a:avLst/>
            <a:gdLst/>
            <a:ahLst/>
            <a:cxnLst/>
            <a:rect r="r" b="b" t="t" l="l"/>
            <a:pathLst>
              <a:path h="7228880" w="10762486">
                <a:moveTo>
                  <a:pt x="0" y="0"/>
                </a:moveTo>
                <a:lnTo>
                  <a:pt x="10762486" y="0"/>
                </a:lnTo>
                <a:lnTo>
                  <a:pt x="10762486" y="7228881"/>
                </a:lnTo>
                <a:lnTo>
                  <a:pt x="0" y="7228881"/>
                </a:lnTo>
                <a:lnTo>
                  <a:pt x="0" y="0"/>
                </a:lnTo>
                <a:close/>
              </a:path>
            </a:pathLst>
          </a:custGeom>
          <a:blipFill>
            <a:blip r:embed="rId14"/>
            <a:stretch>
              <a:fillRect l="0" t="0" r="0" b="0"/>
            </a:stretch>
          </a:blipFill>
        </p:spPr>
      </p:sp>
      <p:sp>
        <p:nvSpPr>
          <p:cNvPr name="TextBox 19" id="19"/>
          <p:cNvSpPr txBox="true"/>
          <p:nvPr/>
        </p:nvSpPr>
        <p:spPr>
          <a:xfrm rot="0">
            <a:off x="0" y="161796"/>
            <a:ext cx="11873825" cy="918259"/>
          </a:xfrm>
          <a:prstGeom prst="rect">
            <a:avLst/>
          </a:prstGeom>
        </p:spPr>
        <p:txBody>
          <a:bodyPr anchor="t" rtlCol="false" tIns="0" lIns="0" bIns="0" rIns="0">
            <a:spAutoFit/>
          </a:bodyPr>
          <a:lstStyle/>
          <a:p>
            <a:pPr algn="ctr">
              <a:lnSpc>
                <a:spcPts val="7415"/>
              </a:lnSpc>
            </a:pPr>
            <a:r>
              <a:rPr lang="en-US" sz="5296" b="true">
                <a:solidFill>
                  <a:srgbClr val="007D9C"/>
                </a:solidFill>
                <a:latin typeface="Public Sans Bold"/>
                <a:ea typeface="Public Sans Bold"/>
                <a:cs typeface="Public Sans Bold"/>
                <a:sym typeface="Public Sans Bold"/>
              </a:rPr>
              <a:t>Biểu đồ luồng dữ liệu mức 1</a:t>
            </a:r>
          </a:p>
        </p:txBody>
      </p:sp>
      <p:sp>
        <p:nvSpPr>
          <p:cNvPr name="TextBox 20" id="20"/>
          <p:cNvSpPr txBox="true"/>
          <p:nvPr/>
        </p:nvSpPr>
        <p:spPr>
          <a:xfrm rot="0">
            <a:off x="1028700" y="1264380"/>
            <a:ext cx="11873825" cy="762089"/>
          </a:xfrm>
          <a:prstGeom prst="rect">
            <a:avLst/>
          </a:prstGeom>
        </p:spPr>
        <p:txBody>
          <a:bodyPr anchor="t" rtlCol="false" tIns="0" lIns="0" bIns="0" rIns="0">
            <a:spAutoFit/>
          </a:bodyPr>
          <a:lstStyle/>
          <a:p>
            <a:pPr algn="ctr">
              <a:lnSpc>
                <a:spcPts val="6295"/>
              </a:lnSpc>
            </a:pPr>
            <a:r>
              <a:rPr lang="en-US" sz="4496" b="true">
                <a:solidFill>
                  <a:srgbClr val="007D9C"/>
                </a:solidFill>
                <a:latin typeface="Public Sans Bold"/>
                <a:ea typeface="Public Sans Bold"/>
                <a:cs typeface="Public Sans Bold"/>
                <a:sym typeface="Public Sans Bold"/>
              </a:rPr>
              <a:t>Chức năng 1.0: Quản lý bạn đọc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FF2F8"/>
        </a:solidFill>
      </p:bgPr>
    </p:bg>
    <p:spTree>
      <p:nvGrpSpPr>
        <p:cNvPr id="1" name=""/>
        <p:cNvGrpSpPr/>
        <p:nvPr/>
      </p:nvGrpSpPr>
      <p:grpSpPr>
        <a:xfrm>
          <a:off x="0" y="0"/>
          <a:ext cx="0" cy="0"/>
          <a:chOff x="0" y="0"/>
          <a:chExt cx="0" cy="0"/>
        </a:xfrm>
      </p:grpSpPr>
      <p:sp>
        <p:nvSpPr>
          <p:cNvPr name="Freeform 2" id="2"/>
          <p:cNvSpPr/>
          <p:nvPr/>
        </p:nvSpPr>
        <p:spPr>
          <a:xfrm flipH="false" flipV="false" rot="0">
            <a:off x="15443283" y="-800100"/>
            <a:ext cx="5160004" cy="2580002"/>
          </a:xfrm>
          <a:custGeom>
            <a:avLst/>
            <a:gdLst/>
            <a:ahLst/>
            <a:cxnLst/>
            <a:rect r="r" b="b" t="t" l="l"/>
            <a:pathLst>
              <a:path h="2580002" w="5160004">
                <a:moveTo>
                  <a:pt x="0" y="0"/>
                </a:moveTo>
                <a:lnTo>
                  <a:pt x="5160004" y="0"/>
                </a:lnTo>
                <a:lnTo>
                  <a:pt x="5160004" y="2580002"/>
                </a:lnTo>
                <a:lnTo>
                  <a:pt x="0" y="258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191625" y="7871817"/>
            <a:ext cx="940524" cy="689120"/>
            <a:chOff x="0" y="0"/>
            <a:chExt cx="1254032" cy="918827"/>
          </a:xfrm>
        </p:grpSpPr>
        <p:sp>
          <p:nvSpPr>
            <p:cNvPr name="AutoShape 4" id="4"/>
            <p:cNvSpPr/>
            <p:nvPr/>
          </p:nvSpPr>
          <p:spPr>
            <a:xfrm>
              <a:off x="0" y="15920"/>
              <a:ext cx="1253924" cy="0"/>
            </a:xfrm>
            <a:prstGeom prst="line">
              <a:avLst/>
            </a:prstGeom>
            <a:ln cap="flat" w="31841">
              <a:solidFill>
                <a:srgbClr val="000000"/>
              </a:solidFill>
              <a:prstDash val="solid"/>
              <a:headEnd type="none" len="sm" w="sm"/>
              <a:tailEnd type="none" len="sm" w="sm"/>
            </a:ln>
          </p:spPr>
        </p:sp>
        <p:sp>
          <p:nvSpPr>
            <p:cNvPr name="AutoShape 5" id="5"/>
            <p:cNvSpPr/>
            <p:nvPr/>
          </p:nvSpPr>
          <p:spPr>
            <a:xfrm>
              <a:off x="0" y="902907"/>
              <a:ext cx="1253924" cy="0"/>
            </a:xfrm>
            <a:prstGeom prst="line">
              <a:avLst/>
            </a:prstGeom>
            <a:ln cap="flat" w="31841">
              <a:solidFill>
                <a:srgbClr val="000000"/>
              </a:solidFill>
              <a:prstDash val="solid"/>
              <a:headEnd type="none" len="sm" w="sm"/>
              <a:tailEnd type="none" len="sm" w="sm"/>
            </a:ln>
          </p:spPr>
        </p:sp>
        <p:sp>
          <p:nvSpPr>
            <p:cNvPr name="AutoShape 6" id="6"/>
            <p:cNvSpPr/>
            <p:nvPr/>
          </p:nvSpPr>
          <p:spPr>
            <a:xfrm>
              <a:off x="1238112" y="15920"/>
              <a:ext cx="0" cy="893792"/>
            </a:xfrm>
            <a:prstGeom prst="line">
              <a:avLst/>
            </a:prstGeom>
            <a:ln cap="flat" w="31841">
              <a:solidFill>
                <a:srgbClr val="000000"/>
              </a:solidFill>
              <a:prstDash val="solid"/>
              <a:headEnd type="none" len="sm" w="sm"/>
              <a:tailEnd type="none" len="sm" w="sm"/>
            </a:ln>
          </p:spPr>
        </p:sp>
      </p:grpSp>
      <p:grpSp>
        <p:nvGrpSpPr>
          <p:cNvPr name="Group 7" id="7"/>
          <p:cNvGrpSpPr/>
          <p:nvPr/>
        </p:nvGrpSpPr>
        <p:grpSpPr>
          <a:xfrm rot="0">
            <a:off x="9201150" y="9113765"/>
            <a:ext cx="940524" cy="689120"/>
            <a:chOff x="0" y="0"/>
            <a:chExt cx="1254032" cy="918827"/>
          </a:xfrm>
        </p:grpSpPr>
        <p:sp>
          <p:nvSpPr>
            <p:cNvPr name="AutoShape 8" id="8"/>
            <p:cNvSpPr/>
            <p:nvPr/>
          </p:nvSpPr>
          <p:spPr>
            <a:xfrm>
              <a:off x="0" y="15920"/>
              <a:ext cx="1253924" cy="0"/>
            </a:xfrm>
            <a:prstGeom prst="line">
              <a:avLst/>
            </a:prstGeom>
            <a:ln cap="flat" w="31841">
              <a:solidFill>
                <a:srgbClr val="000000"/>
              </a:solidFill>
              <a:prstDash val="solid"/>
              <a:headEnd type="none" len="sm" w="sm"/>
              <a:tailEnd type="none" len="sm" w="sm"/>
            </a:ln>
          </p:spPr>
        </p:sp>
        <p:sp>
          <p:nvSpPr>
            <p:cNvPr name="AutoShape 9" id="9"/>
            <p:cNvSpPr/>
            <p:nvPr/>
          </p:nvSpPr>
          <p:spPr>
            <a:xfrm>
              <a:off x="0" y="902907"/>
              <a:ext cx="1253924" cy="0"/>
            </a:xfrm>
            <a:prstGeom prst="line">
              <a:avLst/>
            </a:prstGeom>
            <a:ln cap="flat" w="31841">
              <a:solidFill>
                <a:srgbClr val="000000"/>
              </a:solidFill>
              <a:prstDash val="solid"/>
              <a:headEnd type="none" len="sm" w="sm"/>
              <a:tailEnd type="none" len="sm" w="sm"/>
            </a:ln>
          </p:spPr>
        </p:sp>
        <p:sp>
          <p:nvSpPr>
            <p:cNvPr name="AutoShape 10" id="10"/>
            <p:cNvSpPr/>
            <p:nvPr/>
          </p:nvSpPr>
          <p:spPr>
            <a:xfrm>
              <a:off x="1238112" y="15920"/>
              <a:ext cx="0" cy="893792"/>
            </a:xfrm>
            <a:prstGeom prst="line">
              <a:avLst/>
            </a:prstGeom>
            <a:ln cap="flat" w="31841">
              <a:solidFill>
                <a:srgbClr val="000000"/>
              </a:solidFill>
              <a:prstDash val="solid"/>
              <a:headEnd type="none" len="sm" w="sm"/>
              <a:tailEnd type="none" len="sm" w="sm"/>
            </a:ln>
          </p:spPr>
        </p:sp>
      </p:grpSp>
      <p:sp>
        <p:nvSpPr>
          <p:cNvPr name="Freeform 11" id="11"/>
          <p:cNvSpPr/>
          <p:nvPr/>
        </p:nvSpPr>
        <p:spPr>
          <a:xfrm flipH="false" flipV="false" rot="0">
            <a:off x="14396036" y="-30861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7259300" y="8206789"/>
            <a:ext cx="2503073" cy="2503073"/>
          </a:xfrm>
          <a:custGeom>
            <a:avLst/>
            <a:gdLst/>
            <a:ahLst/>
            <a:cxnLst/>
            <a:rect r="r" b="b" t="t" l="l"/>
            <a:pathLst>
              <a:path h="2503073" w="2503073">
                <a:moveTo>
                  <a:pt x="0" y="0"/>
                </a:moveTo>
                <a:lnTo>
                  <a:pt x="2503073" y="0"/>
                </a:lnTo>
                <a:lnTo>
                  <a:pt x="2503073" y="2503072"/>
                </a:lnTo>
                <a:lnTo>
                  <a:pt x="0" y="25030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1767016">
            <a:off x="15241761" y="8708157"/>
            <a:ext cx="7315200" cy="4003409"/>
          </a:xfrm>
          <a:custGeom>
            <a:avLst/>
            <a:gdLst/>
            <a:ahLst/>
            <a:cxnLst/>
            <a:rect r="r" b="b" t="t" l="l"/>
            <a:pathLst>
              <a:path h="4003409" w="7315200">
                <a:moveTo>
                  <a:pt x="0" y="0"/>
                </a:moveTo>
                <a:lnTo>
                  <a:pt x="7315200" y="0"/>
                </a:lnTo>
                <a:lnTo>
                  <a:pt x="7315200" y="4003409"/>
                </a:lnTo>
                <a:lnTo>
                  <a:pt x="0" y="40034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7431436" y="7871817"/>
            <a:ext cx="2158800" cy="2158800"/>
          </a:xfrm>
          <a:custGeom>
            <a:avLst/>
            <a:gdLst/>
            <a:ahLst/>
            <a:cxnLst/>
            <a:rect r="r" b="b" t="t" l="l"/>
            <a:pathLst>
              <a:path h="2158800" w="2158800">
                <a:moveTo>
                  <a:pt x="0" y="0"/>
                </a:moveTo>
                <a:lnTo>
                  <a:pt x="2158800" y="0"/>
                </a:lnTo>
                <a:lnTo>
                  <a:pt x="2158800" y="2158799"/>
                </a:lnTo>
                <a:lnTo>
                  <a:pt x="0" y="21587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5131258" y="7974085"/>
            <a:ext cx="7315200" cy="3657600"/>
          </a:xfrm>
          <a:custGeom>
            <a:avLst/>
            <a:gdLst/>
            <a:ahLst/>
            <a:cxnLst/>
            <a:rect r="r" b="b" t="t" l="l"/>
            <a:pathLst>
              <a:path h="3657600" w="7315200">
                <a:moveTo>
                  <a:pt x="0" y="0"/>
                </a:moveTo>
                <a:lnTo>
                  <a:pt x="7315200" y="0"/>
                </a:lnTo>
                <a:lnTo>
                  <a:pt x="7315200" y="3657600"/>
                </a:lnTo>
                <a:lnTo>
                  <a:pt x="0" y="36576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2940735" y="6172200"/>
            <a:ext cx="4129818" cy="4114800"/>
          </a:xfrm>
          <a:custGeom>
            <a:avLst/>
            <a:gdLst/>
            <a:ahLst/>
            <a:cxnLst/>
            <a:rect r="r" b="b" t="t" l="l"/>
            <a:pathLst>
              <a:path h="4114800" w="4129818">
                <a:moveTo>
                  <a:pt x="0" y="0"/>
                </a:moveTo>
                <a:lnTo>
                  <a:pt x="4129818" y="0"/>
                </a:lnTo>
                <a:lnTo>
                  <a:pt x="4129818" y="4114800"/>
                </a:lnTo>
                <a:lnTo>
                  <a:pt x="0" y="4114800"/>
                </a:lnTo>
                <a:lnTo>
                  <a:pt x="0" y="0"/>
                </a:lnTo>
                <a:close/>
              </a:path>
            </a:pathLst>
          </a:custGeom>
          <a:blipFill>
            <a:blip r:embed="rId14">
              <a:alphaModFix amt="54000"/>
              <a:extLst>
                <a:ext uri="{96DAC541-7B7A-43D3-8B79-37D633B846F1}">
                  <asvg:svgBlip xmlns:asvg="http://schemas.microsoft.com/office/drawing/2016/SVG/main" r:embed="rId15"/>
                </a:ext>
              </a:extLst>
            </a:blip>
            <a:stretch>
              <a:fillRect l="0" t="0" r="0" b="0"/>
            </a:stretch>
          </a:blipFill>
        </p:spPr>
      </p:sp>
      <p:sp>
        <p:nvSpPr>
          <p:cNvPr name="TextBox 17" id="17"/>
          <p:cNvSpPr txBox="true"/>
          <p:nvPr/>
        </p:nvSpPr>
        <p:spPr>
          <a:xfrm rot="0">
            <a:off x="1559959" y="942975"/>
            <a:ext cx="11873825" cy="762089"/>
          </a:xfrm>
          <a:prstGeom prst="rect">
            <a:avLst/>
          </a:prstGeom>
        </p:spPr>
        <p:txBody>
          <a:bodyPr anchor="t" rtlCol="false" tIns="0" lIns="0" bIns="0" rIns="0">
            <a:spAutoFit/>
          </a:bodyPr>
          <a:lstStyle/>
          <a:p>
            <a:pPr algn="ctr">
              <a:lnSpc>
                <a:spcPts val="6295"/>
              </a:lnSpc>
            </a:pPr>
            <a:r>
              <a:rPr lang="en-US" sz="4496" b="true">
                <a:solidFill>
                  <a:srgbClr val="007D9C"/>
                </a:solidFill>
                <a:latin typeface="Public Sans Bold"/>
                <a:ea typeface="Public Sans Bold"/>
                <a:cs typeface="Public Sans Bold"/>
                <a:sym typeface="Public Sans Bold"/>
              </a:rPr>
              <a:t>Chức năng 2.0: Quản lý sách</a:t>
            </a:r>
          </a:p>
        </p:txBody>
      </p:sp>
      <p:sp>
        <p:nvSpPr>
          <p:cNvPr name="Freeform 18" id="18"/>
          <p:cNvSpPr/>
          <p:nvPr/>
        </p:nvSpPr>
        <p:spPr>
          <a:xfrm flipH="false" flipV="false" rot="-3170541">
            <a:off x="-3373543" y="-1600418"/>
            <a:ext cx="7315200" cy="3657600"/>
          </a:xfrm>
          <a:custGeom>
            <a:avLst/>
            <a:gdLst/>
            <a:ahLst/>
            <a:cxnLst/>
            <a:rect r="r" b="b" t="t" l="l"/>
            <a:pathLst>
              <a:path h="3657600" w="7315200">
                <a:moveTo>
                  <a:pt x="0" y="0"/>
                </a:moveTo>
                <a:lnTo>
                  <a:pt x="7315200" y="0"/>
                </a:lnTo>
                <a:lnTo>
                  <a:pt x="7315200" y="3657600"/>
                </a:lnTo>
                <a:lnTo>
                  <a:pt x="0" y="3657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9" id="19"/>
          <p:cNvGrpSpPr/>
          <p:nvPr/>
        </p:nvGrpSpPr>
        <p:grpSpPr>
          <a:xfrm rot="-3170541">
            <a:off x="1097032" y="-1580958"/>
            <a:ext cx="2173821" cy="217382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2" id="22"/>
          <p:cNvSpPr/>
          <p:nvPr/>
        </p:nvSpPr>
        <p:spPr>
          <a:xfrm flipH="false" flipV="false" rot="0">
            <a:off x="4485746" y="1976733"/>
            <a:ext cx="9910290" cy="7826152"/>
          </a:xfrm>
          <a:custGeom>
            <a:avLst/>
            <a:gdLst/>
            <a:ahLst/>
            <a:cxnLst/>
            <a:rect r="r" b="b" t="t" l="l"/>
            <a:pathLst>
              <a:path h="7826152" w="9910290">
                <a:moveTo>
                  <a:pt x="0" y="0"/>
                </a:moveTo>
                <a:lnTo>
                  <a:pt x="9910290" y="0"/>
                </a:lnTo>
                <a:lnTo>
                  <a:pt x="9910290" y="7826152"/>
                </a:lnTo>
                <a:lnTo>
                  <a:pt x="0" y="7826152"/>
                </a:lnTo>
                <a:lnTo>
                  <a:pt x="0" y="0"/>
                </a:lnTo>
                <a:close/>
              </a:path>
            </a:pathLst>
          </a:custGeom>
          <a:blipFill>
            <a:blip r:embed="rId16"/>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FF2F8"/>
        </a:solidFill>
      </p:bgPr>
    </p:bg>
    <p:spTree>
      <p:nvGrpSpPr>
        <p:cNvPr id="1" name=""/>
        <p:cNvGrpSpPr/>
        <p:nvPr/>
      </p:nvGrpSpPr>
      <p:grpSpPr>
        <a:xfrm>
          <a:off x="0" y="0"/>
          <a:ext cx="0" cy="0"/>
          <a:chOff x="0" y="0"/>
          <a:chExt cx="0" cy="0"/>
        </a:xfrm>
      </p:grpSpPr>
      <p:sp>
        <p:nvSpPr>
          <p:cNvPr name="Freeform 2" id="2"/>
          <p:cNvSpPr/>
          <p:nvPr/>
        </p:nvSpPr>
        <p:spPr>
          <a:xfrm flipH="false" flipV="false" rot="0">
            <a:off x="15443283" y="-800100"/>
            <a:ext cx="5160004" cy="2580002"/>
          </a:xfrm>
          <a:custGeom>
            <a:avLst/>
            <a:gdLst/>
            <a:ahLst/>
            <a:cxnLst/>
            <a:rect r="r" b="b" t="t" l="l"/>
            <a:pathLst>
              <a:path h="2580002" w="5160004">
                <a:moveTo>
                  <a:pt x="0" y="0"/>
                </a:moveTo>
                <a:lnTo>
                  <a:pt x="5160004" y="0"/>
                </a:lnTo>
                <a:lnTo>
                  <a:pt x="5160004" y="2580002"/>
                </a:lnTo>
                <a:lnTo>
                  <a:pt x="0" y="258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52580" y="7144503"/>
            <a:ext cx="4227594" cy="4227594"/>
          </a:xfrm>
          <a:custGeom>
            <a:avLst/>
            <a:gdLst/>
            <a:ahLst/>
            <a:cxnLst/>
            <a:rect r="r" b="b" t="t" l="l"/>
            <a:pathLst>
              <a:path h="4227594" w="4227594">
                <a:moveTo>
                  <a:pt x="4227594" y="0"/>
                </a:moveTo>
                <a:lnTo>
                  <a:pt x="0" y="0"/>
                </a:lnTo>
                <a:lnTo>
                  <a:pt x="0" y="4227594"/>
                </a:lnTo>
                <a:lnTo>
                  <a:pt x="4227594" y="4227594"/>
                </a:lnTo>
                <a:lnTo>
                  <a:pt x="42275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01900" y="78432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7259300" y="6703862"/>
            <a:ext cx="2053173" cy="20531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285545" y="-800100"/>
            <a:ext cx="5816717" cy="2855479"/>
          </a:xfrm>
          <a:custGeom>
            <a:avLst/>
            <a:gdLst/>
            <a:ahLst/>
            <a:cxnLst/>
            <a:rect r="r" b="b" t="t" l="l"/>
            <a:pathLst>
              <a:path h="2855479" w="5816717">
                <a:moveTo>
                  <a:pt x="0" y="0"/>
                </a:moveTo>
                <a:lnTo>
                  <a:pt x="5816717" y="0"/>
                </a:lnTo>
                <a:lnTo>
                  <a:pt x="5816717" y="2855479"/>
                </a:lnTo>
                <a:lnTo>
                  <a:pt x="0" y="28554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638476" y="1080055"/>
            <a:ext cx="1399693" cy="139969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9182100" y="6871621"/>
            <a:ext cx="942871" cy="675106"/>
            <a:chOff x="0" y="0"/>
            <a:chExt cx="1257162" cy="900142"/>
          </a:xfrm>
        </p:grpSpPr>
        <p:sp>
          <p:nvSpPr>
            <p:cNvPr name="AutoShape 13" id="13"/>
            <p:cNvSpPr/>
            <p:nvPr/>
          </p:nvSpPr>
          <p:spPr>
            <a:xfrm>
              <a:off x="0" y="19050"/>
              <a:ext cx="1253924" cy="0"/>
            </a:xfrm>
            <a:prstGeom prst="line">
              <a:avLst/>
            </a:prstGeom>
            <a:ln cap="flat" w="38100">
              <a:solidFill>
                <a:srgbClr val="000000"/>
              </a:solidFill>
              <a:prstDash val="solid"/>
              <a:headEnd type="none" len="sm" w="sm"/>
              <a:tailEnd type="none" len="sm" w="sm"/>
            </a:ln>
          </p:spPr>
        </p:sp>
        <p:sp>
          <p:nvSpPr>
            <p:cNvPr name="AutoShape 14" id="14"/>
            <p:cNvSpPr/>
            <p:nvPr/>
          </p:nvSpPr>
          <p:spPr>
            <a:xfrm>
              <a:off x="0" y="881092"/>
              <a:ext cx="1253924" cy="0"/>
            </a:xfrm>
            <a:prstGeom prst="line">
              <a:avLst/>
            </a:prstGeom>
            <a:ln cap="flat" w="38100">
              <a:solidFill>
                <a:srgbClr val="000000"/>
              </a:solidFill>
              <a:prstDash val="solid"/>
              <a:headEnd type="none" len="sm" w="sm"/>
              <a:tailEnd type="none" len="sm" w="sm"/>
            </a:ln>
          </p:spPr>
        </p:sp>
        <p:sp>
          <p:nvSpPr>
            <p:cNvPr name="AutoShape 15" id="15"/>
            <p:cNvSpPr/>
            <p:nvPr/>
          </p:nvSpPr>
          <p:spPr>
            <a:xfrm>
              <a:off x="1238112" y="19050"/>
              <a:ext cx="0" cy="862042"/>
            </a:xfrm>
            <a:prstGeom prst="line">
              <a:avLst/>
            </a:prstGeom>
            <a:ln cap="flat" w="38100">
              <a:solidFill>
                <a:srgbClr val="000000"/>
              </a:solidFill>
              <a:prstDash val="solid"/>
              <a:headEnd type="none" len="sm" w="sm"/>
              <a:tailEnd type="none" len="sm" w="sm"/>
            </a:ln>
          </p:spPr>
        </p:sp>
      </p:grpSp>
      <p:grpSp>
        <p:nvGrpSpPr>
          <p:cNvPr name="Group 16" id="16"/>
          <p:cNvGrpSpPr/>
          <p:nvPr/>
        </p:nvGrpSpPr>
        <p:grpSpPr>
          <a:xfrm rot="0">
            <a:off x="9172575" y="8011743"/>
            <a:ext cx="942871" cy="675106"/>
            <a:chOff x="0" y="0"/>
            <a:chExt cx="1257162" cy="900142"/>
          </a:xfrm>
        </p:grpSpPr>
        <p:sp>
          <p:nvSpPr>
            <p:cNvPr name="AutoShape 17" id="17"/>
            <p:cNvSpPr/>
            <p:nvPr/>
          </p:nvSpPr>
          <p:spPr>
            <a:xfrm>
              <a:off x="0" y="19050"/>
              <a:ext cx="1253924" cy="0"/>
            </a:xfrm>
            <a:prstGeom prst="line">
              <a:avLst/>
            </a:prstGeom>
            <a:ln cap="flat" w="38100">
              <a:solidFill>
                <a:srgbClr val="000000"/>
              </a:solidFill>
              <a:prstDash val="solid"/>
              <a:headEnd type="none" len="sm" w="sm"/>
              <a:tailEnd type="none" len="sm" w="sm"/>
            </a:ln>
          </p:spPr>
        </p:sp>
        <p:sp>
          <p:nvSpPr>
            <p:cNvPr name="AutoShape 18" id="18"/>
            <p:cNvSpPr/>
            <p:nvPr/>
          </p:nvSpPr>
          <p:spPr>
            <a:xfrm>
              <a:off x="0" y="881092"/>
              <a:ext cx="1253924" cy="0"/>
            </a:xfrm>
            <a:prstGeom prst="line">
              <a:avLst/>
            </a:prstGeom>
            <a:ln cap="flat" w="38100">
              <a:solidFill>
                <a:srgbClr val="000000"/>
              </a:solidFill>
              <a:prstDash val="solid"/>
              <a:headEnd type="none" len="sm" w="sm"/>
              <a:tailEnd type="none" len="sm" w="sm"/>
            </a:ln>
          </p:spPr>
        </p:sp>
        <p:sp>
          <p:nvSpPr>
            <p:cNvPr name="AutoShape 19" id="19"/>
            <p:cNvSpPr/>
            <p:nvPr/>
          </p:nvSpPr>
          <p:spPr>
            <a:xfrm>
              <a:off x="1238112" y="19050"/>
              <a:ext cx="0" cy="862042"/>
            </a:xfrm>
            <a:prstGeom prst="line">
              <a:avLst/>
            </a:prstGeom>
            <a:ln cap="flat" w="38100">
              <a:solidFill>
                <a:srgbClr val="000000"/>
              </a:solidFill>
              <a:prstDash val="solid"/>
              <a:headEnd type="none" len="sm" w="sm"/>
              <a:tailEnd type="none" len="sm" w="sm"/>
            </a:ln>
          </p:spPr>
        </p:sp>
      </p:grpSp>
      <p:grpSp>
        <p:nvGrpSpPr>
          <p:cNvPr name="Group 20" id="20"/>
          <p:cNvGrpSpPr/>
          <p:nvPr/>
        </p:nvGrpSpPr>
        <p:grpSpPr>
          <a:xfrm rot="0">
            <a:off x="9172575" y="9134524"/>
            <a:ext cx="942871" cy="675106"/>
            <a:chOff x="0" y="0"/>
            <a:chExt cx="1257162" cy="900142"/>
          </a:xfrm>
        </p:grpSpPr>
        <p:sp>
          <p:nvSpPr>
            <p:cNvPr name="AutoShape 21" id="21"/>
            <p:cNvSpPr/>
            <p:nvPr/>
          </p:nvSpPr>
          <p:spPr>
            <a:xfrm>
              <a:off x="0" y="19050"/>
              <a:ext cx="1253924" cy="0"/>
            </a:xfrm>
            <a:prstGeom prst="line">
              <a:avLst/>
            </a:prstGeom>
            <a:ln cap="flat" w="38100">
              <a:solidFill>
                <a:srgbClr val="000000"/>
              </a:solidFill>
              <a:prstDash val="solid"/>
              <a:headEnd type="none" len="sm" w="sm"/>
              <a:tailEnd type="none" len="sm" w="sm"/>
            </a:ln>
          </p:spPr>
        </p:sp>
        <p:sp>
          <p:nvSpPr>
            <p:cNvPr name="AutoShape 22" id="22"/>
            <p:cNvSpPr/>
            <p:nvPr/>
          </p:nvSpPr>
          <p:spPr>
            <a:xfrm>
              <a:off x="0" y="881092"/>
              <a:ext cx="1253924" cy="0"/>
            </a:xfrm>
            <a:prstGeom prst="line">
              <a:avLst/>
            </a:prstGeom>
            <a:ln cap="flat" w="38100">
              <a:solidFill>
                <a:srgbClr val="000000"/>
              </a:solidFill>
              <a:prstDash val="solid"/>
              <a:headEnd type="none" len="sm" w="sm"/>
              <a:tailEnd type="none" len="sm" w="sm"/>
            </a:ln>
          </p:spPr>
        </p:sp>
        <p:sp>
          <p:nvSpPr>
            <p:cNvPr name="AutoShape 23" id="23"/>
            <p:cNvSpPr/>
            <p:nvPr/>
          </p:nvSpPr>
          <p:spPr>
            <a:xfrm>
              <a:off x="1238112" y="19050"/>
              <a:ext cx="0" cy="862042"/>
            </a:xfrm>
            <a:prstGeom prst="line">
              <a:avLst/>
            </a:prstGeom>
            <a:ln cap="flat" w="38100">
              <a:solidFill>
                <a:srgbClr val="000000"/>
              </a:solidFill>
              <a:prstDash val="solid"/>
              <a:headEnd type="none" len="sm" w="sm"/>
              <a:tailEnd type="none" len="sm" w="sm"/>
            </a:ln>
          </p:spPr>
        </p:sp>
      </p:grpSp>
      <p:sp>
        <p:nvSpPr>
          <p:cNvPr name="Freeform 24" id="24"/>
          <p:cNvSpPr/>
          <p:nvPr/>
        </p:nvSpPr>
        <p:spPr>
          <a:xfrm flipH="false" flipV="false" rot="0">
            <a:off x="4147166" y="1548790"/>
            <a:ext cx="9893091" cy="8351852"/>
          </a:xfrm>
          <a:custGeom>
            <a:avLst/>
            <a:gdLst/>
            <a:ahLst/>
            <a:cxnLst/>
            <a:rect r="r" b="b" t="t" l="l"/>
            <a:pathLst>
              <a:path h="8351852" w="9893091">
                <a:moveTo>
                  <a:pt x="0" y="0"/>
                </a:moveTo>
                <a:lnTo>
                  <a:pt x="9893091" y="0"/>
                </a:lnTo>
                <a:lnTo>
                  <a:pt x="9893091" y="8351852"/>
                </a:lnTo>
                <a:lnTo>
                  <a:pt x="0" y="8351852"/>
                </a:lnTo>
                <a:lnTo>
                  <a:pt x="0" y="0"/>
                </a:lnTo>
                <a:close/>
              </a:path>
            </a:pathLst>
          </a:custGeom>
          <a:blipFill>
            <a:blip r:embed="rId10"/>
            <a:stretch>
              <a:fillRect l="0" t="0" r="0" b="0"/>
            </a:stretch>
          </a:blipFill>
        </p:spPr>
      </p:sp>
      <p:sp>
        <p:nvSpPr>
          <p:cNvPr name="TextBox 25" id="25"/>
          <p:cNvSpPr txBox="true"/>
          <p:nvPr/>
        </p:nvSpPr>
        <p:spPr>
          <a:xfrm rot="0">
            <a:off x="1926085" y="404176"/>
            <a:ext cx="11873825" cy="762089"/>
          </a:xfrm>
          <a:prstGeom prst="rect">
            <a:avLst/>
          </a:prstGeom>
        </p:spPr>
        <p:txBody>
          <a:bodyPr anchor="t" rtlCol="false" tIns="0" lIns="0" bIns="0" rIns="0">
            <a:spAutoFit/>
          </a:bodyPr>
          <a:lstStyle/>
          <a:p>
            <a:pPr algn="ctr">
              <a:lnSpc>
                <a:spcPts val="6295"/>
              </a:lnSpc>
            </a:pPr>
            <a:r>
              <a:rPr lang="en-US" sz="4496" b="true">
                <a:solidFill>
                  <a:srgbClr val="007D9C"/>
                </a:solidFill>
                <a:latin typeface="Public Sans Bold"/>
                <a:ea typeface="Public Sans Bold"/>
                <a:cs typeface="Public Sans Bold"/>
                <a:sym typeface="Public Sans Bold"/>
              </a:rPr>
              <a:t>Chức năng 3.0: Mượn trả sách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FF2F8"/>
        </a:solidFill>
      </p:bgPr>
    </p:bg>
    <p:spTree>
      <p:nvGrpSpPr>
        <p:cNvPr id="1" name=""/>
        <p:cNvGrpSpPr/>
        <p:nvPr/>
      </p:nvGrpSpPr>
      <p:grpSpPr>
        <a:xfrm>
          <a:off x="0" y="0"/>
          <a:ext cx="0" cy="0"/>
          <a:chOff x="0" y="0"/>
          <a:chExt cx="0" cy="0"/>
        </a:xfrm>
      </p:grpSpPr>
      <p:sp>
        <p:nvSpPr>
          <p:cNvPr name="Freeform 2" id="2"/>
          <p:cNvSpPr/>
          <p:nvPr/>
        </p:nvSpPr>
        <p:spPr>
          <a:xfrm flipH="false" flipV="false" rot="0">
            <a:off x="15443283" y="-800100"/>
            <a:ext cx="5160004" cy="2580002"/>
          </a:xfrm>
          <a:custGeom>
            <a:avLst/>
            <a:gdLst/>
            <a:ahLst/>
            <a:cxnLst/>
            <a:rect r="r" b="b" t="t" l="l"/>
            <a:pathLst>
              <a:path h="2580002" w="5160004">
                <a:moveTo>
                  <a:pt x="0" y="0"/>
                </a:moveTo>
                <a:lnTo>
                  <a:pt x="5160004" y="0"/>
                </a:lnTo>
                <a:lnTo>
                  <a:pt x="5160004" y="2580002"/>
                </a:lnTo>
                <a:lnTo>
                  <a:pt x="0" y="258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52580" y="7144503"/>
            <a:ext cx="4227594" cy="4227594"/>
          </a:xfrm>
          <a:custGeom>
            <a:avLst/>
            <a:gdLst/>
            <a:ahLst/>
            <a:cxnLst/>
            <a:rect r="r" b="b" t="t" l="l"/>
            <a:pathLst>
              <a:path h="4227594" w="4227594">
                <a:moveTo>
                  <a:pt x="4227594" y="0"/>
                </a:moveTo>
                <a:lnTo>
                  <a:pt x="0" y="0"/>
                </a:lnTo>
                <a:lnTo>
                  <a:pt x="0" y="4227594"/>
                </a:lnTo>
                <a:lnTo>
                  <a:pt x="4227594" y="4227594"/>
                </a:lnTo>
                <a:lnTo>
                  <a:pt x="42275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01900" y="78432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7259300" y="6703862"/>
            <a:ext cx="2053173" cy="20531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285545" y="-800100"/>
            <a:ext cx="5816717" cy="2855479"/>
          </a:xfrm>
          <a:custGeom>
            <a:avLst/>
            <a:gdLst/>
            <a:ahLst/>
            <a:cxnLst/>
            <a:rect r="r" b="b" t="t" l="l"/>
            <a:pathLst>
              <a:path h="2855479" w="5816717">
                <a:moveTo>
                  <a:pt x="0" y="0"/>
                </a:moveTo>
                <a:lnTo>
                  <a:pt x="5816717" y="0"/>
                </a:lnTo>
                <a:lnTo>
                  <a:pt x="5816717" y="2855479"/>
                </a:lnTo>
                <a:lnTo>
                  <a:pt x="0" y="28554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638476" y="1080055"/>
            <a:ext cx="1399693" cy="139969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559959" y="563459"/>
            <a:ext cx="11873825" cy="1552664"/>
          </a:xfrm>
          <a:prstGeom prst="rect">
            <a:avLst/>
          </a:prstGeom>
        </p:spPr>
        <p:txBody>
          <a:bodyPr anchor="t" rtlCol="false" tIns="0" lIns="0" bIns="0" rIns="0">
            <a:spAutoFit/>
          </a:bodyPr>
          <a:lstStyle/>
          <a:p>
            <a:pPr algn="ctr">
              <a:lnSpc>
                <a:spcPts val="6295"/>
              </a:lnSpc>
            </a:pPr>
            <a:r>
              <a:rPr lang="en-US" sz="4496" b="true">
                <a:solidFill>
                  <a:srgbClr val="007D9C"/>
                </a:solidFill>
                <a:latin typeface="Public Sans Bold"/>
                <a:ea typeface="Public Sans Bold"/>
                <a:cs typeface="Public Sans Bold"/>
                <a:sym typeface="Public Sans Bold"/>
              </a:rPr>
              <a:t>Chức năng 4.0: Thống kê</a:t>
            </a:r>
          </a:p>
          <a:p>
            <a:pPr algn="ctr">
              <a:lnSpc>
                <a:spcPts val="6295"/>
              </a:lnSpc>
            </a:pPr>
          </a:p>
        </p:txBody>
      </p:sp>
      <p:sp>
        <p:nvSpPr>
          <p:cNvPr name="AutoShape 13" id="13"/>
          <p:cNvSpPr/>
          <p:nvPr/>
        </p:nvSpPr>
        <p:spPr>
          <a:xfrm>
            <a:off x="9275260" y="1979179"/>
            <a:ext cx="940443" cy="0"/>
          </a:xfrm>
          <a:prstGeom prst="line">
            <a:avLst/>
          </a:prstGeom>
          <a:ln cap="flat" w="28575">
            <a:solidFill>
              <a:srgbClr val="000000"/>
            </a:solidFill>
            <a:prstDash val="solid"/>
            <a:headEnd type="none" len="sm" w="sm"/>
            <a:tailEnd type="none" len="sm" w="sm"/>
          </a:ln>
        </p:spPr>
      </p:sp>
      <p:sp>
        <p:nvSpPr>
          <p:cNvPr name="AutoShape 14" id="14"/>
          <p:cNvSpPr/>
          <p:nvPr/>
        </p:nvSpPr>
        <p:spPr>
          <a:xfrm>
            <a:off x="9275260" y="2654286"/>
            <a:ext cx="940443" cy="0"/>
          </a:xfrm>
          <a:prstGeom prst="line">
            <a:avLst/>
          </a:prstGeom>
          <a:ln cap="flat" w="28575">
            <a:solidFill>
              <a:srgbClr val="000000"/>
            </a:solidFill>
            <a:prstDash val="solid"/>
            <a:headEnd type="none" len="sm" w="sm"/>
            <a:tailEnd type="none" len="sm" w="sm"/>
          </a:ln>
        </p:spPr>
      </p:sp>
      <p:sp>
        <p:nvSpPr>
          <p:cNvPr name="AutoShape 15" id="15"/>
          <p:cNvSpPr/>
          <p:nvPr/>
        </p:nvSpPr>
        <p:spPr>
          <a:xfrm>
            <a:off x="10203844" y="1993467"/>
            <a:ext cx="0" cy="646531"/>
          </a:xfrm>
          <a:prstGeom prst="line">
            <a:avLst/>
          </a:prstGeom>
          <a:ln cap="flat" w="28575">
            <a:solidFill>
              <a:srgbClr val="000000"/>
            </a:solidFill>
            <a:prstDash val="solid"/>
            <a:headEnd type="none" len="sm" w="sm"/>
            <a:tailEnd type="none" len="sm" w="sm"/>
          </a:ln>
        </p:spPr>
      </p:sp>
      <p:sp>
        <p:nvSpPr>
          <p:cNvPr name="AutoShape 16" id="16"/>
          <p:cNvSpPr/>
          <p:nvPr/>
        </p:nvSpPr>
        <p:spPr>
          <a:xfrm>
            <a:off x="9332410" y="6607496"/>
            <a:ext cx="940443" cy="0"/>
          </a:xfrm>
          <a:prstGeom prst="line">
            <a:avLst/>
          </a:prstGeom>
          <a:ln cap="flat" w="28575">
            <a:solidFill>
              <a:srgbClr val="000000"/>
            </a:solidFill>
            <a:prstDash val="solid"/>
            <a:headEnd type="none" len="sm" w="sm"/>
            <a:tailEnd type="none" len="sm" w="sm"/>
          </a:ln>
        </p:spPr>
      </p:sp>
      <p:sp>
        <p:nvSpPr>
          <p:cNvPr name="AutoShape 17" id="17"/>
          <p:cNvSpPr/>
          <p:nvPr/>
        </p:nvSpPr>
        <p:spPr>
          <a:xfrm>
            <a:off x="9332410" y="7277840"/>
            <a:ext cx="940443" cy="0"/>
          </a:xfrm>
          <a:prstGeom prst="line">
            <a:avLst/>
          </a:prstGeom>
          <a:ln cap="flat" w="28575">
            <a:solidFill>
              <a:srgbClr val="000000"/>
            </a:solidFill>
            <a:prstDash val="solid"/>
            <a:headEnd type="none" len="sm" w="sm"/>
            <a:tailEnd type="none" len="sm" w="sm"/>
          </a:ln>
        </p:spPr>
      </p:sp>
      <p:sp>
        <p:nvSpPr>
          <p:cNvPr name="AutoShape 18" id="18"/>
          <p:cNvSpPr/>
          <p:nvPr/>
        </p:nvSpPr>
        <p:spPr>
          <a:xfrm>
            <a:off x="10260994" y="6617021"/>
            <a:ext cx="0" cy="646531"/>
          </a:xfrm>
          <a:prstGeom prst="line">
            <a:avLst/>
          </a:prstGeom>
          <a:ln cap="flat" w="28575">
            <a:solidFill>
              <a:srgbClr val="000000"/>
            </a:solidFill>
            <a:prstDash val="solid"/>
            <a:headEnd type="none" len="sm" w="sm"/>
            <a:tailEnd type="none" len="sm" w="sm"/>
          </a:ln>
        </p:spPr>
      </p:sp>
      <p:sp>
        <p:nvSpPr>
          <p:cNvPr name="AutoShape 19" id="19"/>
          <p:cNvSpPr/>
          <p:nvPr/>
        </p:nvSpPr>
        <p:spPr>
          <a:xfrm>
            <a:off x="9552105" y="8497387"/>
            <a:ext cx="940443" cy="0"/>
          </a:xfrm>
          <a:prstGeom prst="line">
            <a:avLst/>
          </a:prstGeom>
          <a:ln cap="flat" w="28575">
            <a:solidFill>
              <a:srgbClr val="000000"/>
            </a:solidFill>
            <a:prstDash val="solid"/>
            <a:headEnd type="none" len="sm" w="sm"/>
            <a:tailEnd type="none" len="sm" w="sm"/>
          </a:ln>
        </p:spPr>
      </p:sp>
      <p:sp>
        <p:nvSpPr>
          <p:cNvPr name="AutoShape 20" id="20"/>
          <p:cNvSpPr/>
          <p:nvPr/>
        </p:nvSpPr>
        <p:spPr>
          <a:xfrm>
            <a:off x="9552105" y="9172493"/>
            <a:ext cx="940443" cy="0"/>
          </a:xfrm>
          <a:prstGeom prst="line">
            <a:avLst/>
          </a:prstGeom>
          <a:ln cap="flat" w="28575">
            <a:solidFill>
              <a:srgbClr val="000000"/>
            </a:solidFill>
            <a:prstDash val="solid"/>
            <a:headEnd type="none" len="sm" w="sm"/>
            <a:tailEnd type="none" len="sm" w="sm"/>
          </a:ln>
        </p:spPr>
      </p:sp>
      <p:sp>
        <p:nvSpPr>
          <p:cNvPr name="AutoShape 21" id="21"/>
          <p:cNvSpPr/>
          <p:nvPr/>
        </p:nvSpPr>
        <p:spPr>
          <a:xfrm>
            <a:off x="10480689" y="8511674"/>
            <a:ext cx="0" cy="646531"/>
          </a:xfrm>
          <a:prstGeom prst="line">
            <a:avLst/>
          </a:prstGeom>
          <a:ln cap="flat" w="28575">
            <a:solidFill>
              <a:srgbClr val="000000"/>
            </a:solidFill>
            <a:prstDash val="solid"/>
            <a:headEnd type="none" len="sm" w="sm"/>
            <a:tailEnd type="none" len="sm" w="sm"/>
          </a:ln>
        </p:spPr>
      </p:sp>
      <p:sp>
        <p:nvSpPr>
          <p:cNvPr name="Freeform 22" id="22"/>
          <p:cNvSpPr/>
          <p:nvPr/>
        </p:nvSpPr>
        <p:spPr>
          <a:xfrm flipH="false" flipV="false" rot="0">
            <a:off x="5198361" y="1779902"/>
            <a:ext cx="7336350" cy="8120740"/>
          </a:xfrm>
          <a:custGeom>
            <a:avLst/>
            <a:gdLst/>
            <a:ahLst/>
            <a:cxnLst/>
            <a:rect r="r" b="b" t="t" l="l"/>
            <a:pathLst>
              <a:path h="8120740" w="7336350">
                <a:moveTo>
                  <a:pt x="0" y="0"/>
                </a:moveTo>
                <a:lnTo>
                  <a:pt x="7336350" y="0"/>
                </a:lnTo>
                <a:lnTo>
                  <a:pt x="7336350" y="8120740"/>
                </a:lnTo>
                <a:lnTo>
                  <a:pt x="0" y="8120740"/>
                </a:lnTo>
                <a:lnTo>
                  <a:pt x="0" y="0"/>
                </a:lnTo>
                <a:close/>
              </a:path>
            </a:pathLst>
          </a:custGeom>
          <a:blipFill>
            <a:blip r:embed="rId10"/>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FF2F8"/>
        </a:solidFill>
      </p:bgPr>
    </p:bg>
    <p:spTree>
      <p:nvGrpSpPr>
        <p:cNvPr id="1" name=""/>
        <p:cNvGrpSpPr/>
        <p:nvPr/>
      </p:nvGrpSpPr>
      <p:grpSpPr>
        <a:xfrm>
          <a:off x="0" y="0"/>
          <a:ext cx="0" cy="0"/>
          <a:chOff x="0" y="0"/>
          <a:chExt cx="0" cy="0"/>
        </a:xfrm>
      </p:grpSpPr>
      <p:sp>
        <p:nvSpPr>
          <p:cNvPr name="Freeform 2" id="2"/>
          <p:cNvSpPr/>
          <p:nvPr/>
        </p:nvSpPr>
        <p:spPr>
          <a:xfrm flipH="false" flipV="false" rot="0">
            <a:off x="15443283" y="-800100"/>
            <a:ext cx="5160004" cy="2580002"/>
          </a:xfrm>
          <a:custGeom>
            <a:avLst/>
            <a:gdLst/>
            <a:ahLst/>
            <a:cxnLst/>
            <a:rect r="r" b="b" t="t" l="l"/>
            <a:pathLst>
              <a:path h="2580002" w="5160004">
                <a:moveTo>
                  <a:pt x="0" y="0"/>
                </a:moveTo>
                <a:lnTo>
                  <a:pt x="5160004" y="0"/>
                </a:lnTo>
                <a:lnTo>
                  <a:pt x="5160004" y="2580002"/>
                </a:lnTo>
                <a:lnTo>
                  <a:pt x="0" y="258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52580" y="7144503"/>
            <a:ext cx="4227594" cy="4227594"/>
          </a:xfrm>
          <a:custGeom>
            <a:avLst/>
            <a:gdLst/>
            <a:ahLst/>
            <a:cxnLst/>
            <a:rect r="r" b="b" t="t" l="l"/>
            <a:pathLst>
              <a:path h="4227594" w="4227594">
                <a:moveTo>
                  <a:pt x="4227594" y="0"/>
                </a:moveTo>
                <a:lnTo>
                  <a:pt x="0" y="0"/>
                </a:lnTo>
                <a:lnTo>
                  <a:pt x="0" y="4227594"/>
                </a:lnTo>
                <a:lnTo>
                  <a:pt x="4227594" y="4227594"/>
                </a:lnTo>
                <a:lnTo>
                  <a:pt x="42275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01900" y="78432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7259300" y="6703862"/>
            <a:ext cx="2053173" cy="20531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285545" y="-800100"/>
            <a:ext cx="5816717" cy="2855479"/>
          </a:xfrm>
          <a:custGeom>
            <a:avLst/>
            <a:gdLst/>
            <a:ahLst/>
            <a:cxnLst/>
            <a:rect r="r" b="b" t="t" l="l"/>
            <a:pathLst>
              <a:path h="2855479" w="5816717">
                <a:moveTo>
                  <a:pt x="0" y="0"/>
                </a:moveTo>
                <a:lnTo>
                  <a:pt x="5816717" y="0"/>
                </a:lnTo>
                <a:lnTo>
                  <a:pt x="5816717" y="2855479"/>
                </a:lnTo>
                <a:lnTo>
                  <a:pt x="0" y="28554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638476" y="1080055"/>
            <a:ext cx="1399693" cy="139969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3959854" y="3422440"/>
            <a:ext cx="10368293" cy="3680245"/>
          </a:xfrm>
          <a:prstGeom prst="rect">
            <a:avLst/>
          </a:prstGeom>
        </p:spPr>
        <p:txBody>
          <a:bodyPr anchor="t" rtlCol="false" tIns="0" lIns="0" bIns="0" rIns="0">
            <a:spAutoFit/>
          </a:bodyPr>
          <a:lstStyle/>
          <a:p>
            <a:pPr algn="ctr">
              <a:lnSpc>
                <a:spcPts val="14185"/>
              </a:lnSpc>
            </a:pPr>
            <a:r>
              <a:rPr lang="en-US" b="true" sz="13907">
                <a:solidFill>
                  <a:srgbClr val="007D9C"/>
                </a:solidFill>
                <a:latin typeface="Open Sauce Heavy"/>
                <a:ea typeface="Open Sauce Heavy"/>
                <a:cs typeface="Open Sauce Heavy"/>
                <a:sym typeface="Open Sauce Heavy"/>
              </a:rPr>
              <a:t>THANK</a:t>
            </a:r>
          </a:p>
          <a:p>
            <a:pPr algn="ctr">
              <a:lnSpc>
                <a:spcPts val="14185"/>
              </a:lnSpc>
            </a:pPr>
            <a:r>
              <a:rPr lang="en-US" b="true" sz="13907">
                <a:solidFill>
                  <a:srgbClr val="007D9C"/>
                </a:solidFill>
                <a:latin typeface="Open Sauce Heavy"/>
                <a:ea typeface="Open Sauce Heavy"/>
                <a:cs typeface="Open Sauce Heavy"/>
                <a:sym typeface="Open Sauce Heavy"/>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DAGSsVjk_ho</dc:identifier>
  <dcterms:modified xsi:type="dcterms:W3CDTF">2011-08-01T06:04:30Z</dcterms:modified>
  <cp:revision>1</cp:revision>
  <dc:title>Nhóm 6-Hệ Thống Quản lý thư viện trường</dc:title>
</cp:coreProperties>
</file>